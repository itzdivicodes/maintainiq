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94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MaintainIQ, an industrial asset monitoring decision-support platform. Instead of stopping at anomaly detection, we convert sensor readings into interpretable health scores, ranked maintenance attention and explanations. MongoDB is used for time-series data and database-side scoring.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relatable example: a compressor sends thousands of measurements. An anomaly model may flag it, but an engineer still has to interpret its seriousness and decide what to do. Our project targets that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paper used an MLP autoencoder, not an LSTM. Its two-hour early-warning finding belongs to that earlier work. We extend the practical direction by building an integrated decision-support workflow.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 collect sensor records, store them in MongoDB, prepare sequences and detect anomalies with the LSTM. DAHI summarizes condition, MAPE ranks maintenance attention, EME gives a reason and action, and AMA lets users ask questions. Important: the neural network runs in Python, not entirely inside MongoDB.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 dataset has over 1.5 million readings, but only four known failure episodes. Explain what an APU does: it supports compressed-air systems. We must consider both analog values and digital component states.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transformations before model training. Numerical samples are averaged by minute, binary ones use mode. A rolling average reduces short spikes. Scaling statistics should be learned only from training data. Each input window then contains 60 observations of 10 selected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exactly why this is a NoSQL project. The timestamp and asset ID enable time-range queries. MongoDB time-series collections support variable sensor fields; aggregation pipelines perform health computations database-side. The deep-learning model is separate, using Python and TensorFlow.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sees a sequence of 60 minutes with 10 features. The encoder compresses it, and the decoder attempts to reconstruct it. Normal patterns reconstruct relatively well. Unfamiliar operating patterns have larger error. The training uses MSE loss and Adam optimizer.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percentile with an example: learn the normal training error distribution and choose its 95th percentile as the cutoff. Anything higher is flagged. That does not automatically prove that a physical component has failed.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training loss from F1. The loss values tell us about reconstruction during training and validation. The larger validation loss suggests there is a generalization gap. For anomaly detection quality, we must look at the test-set metrics.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results for MaintainIQ, not the base paper. State carefully that 0.9869 is the best F1 and 0.999 is maximum AUC, not necessarily from the same configuration. Compare the 0.9652 and 0.8610 results to show sensitivity to training context.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DAHI means Dynamic Asset Health Index. Each sensor is compared with an expected operating range; the health of the whole asset is weighted across sensors. High score means good health. Note that at an exact score of 39.66, a continuous cutoff below 40 implies critical; the integer-band labels are shorthand.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example asset, COMP_01. Its overall score is 39.66, which lies below 40 so it receives critical attention. H1 and oil-temperature have low sensor scores. This demonstrates traceable scoring; the numbers alone cannot prove an underlying root cause.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DAHI evaluates equipment condition, MAPE ranks urgency. It uses four weights, not just anomaly magnitude. Our example COMP_01 has a priority score of 84.1. Explain that this supports human scheduling, rather than automatically ordering repair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 means Explainable Maintenance Engine. It combines measured signal patterns with a rule library. Instead of only saying anomaly, it tells an engineer what was observed and suggests a safe inspection. We must avoid claiming each rule identifies the true physical cause with certainty.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 is an agentic-style maintenance interface for supported query types. A user asks a question, the interface identifies a supported intent, performs a controlled read-only database query and summarizes the result. This is not a system that should autonomously alter industrial equipment.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project demo narrative. We go from a sensor anomaly to a critical health summary, maintenance ranking, specific supporting sensor evidence and a practical inspection starting point. This integration is more useful than a single abnormal label.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why this belongs in a NoSQL course. MongoDB’s time-series structure and aggregation framework align with the project workload. The reported latency improvement is 72.2% and storage saving 31%. Avoid saying MongoDB universally beats relational databases; configuration and indexes matter.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accomplishments rather than repeating the entire implementation. The project combines model output with explainable scoring and triage. The result is an integrated framework for practical decisions, backed by sample asset outputs and model/database benchmarks.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honest conclusion. Only four documented failures limit generalization. The rules and ranked priorities need expert validation, and the reported benchmark results need fully controlled reproducibility. Our project has not demonstrated avoided downtime in a live railway deployment.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MaintainIQ moves beyond detecting anomalies. Its main innovation is converting readings into clear condition information and maintenance priorities.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73736" cy="6858000"/>
          </a:xfrm>
          <a:prstGeom prst="rect">
            <a:avLst/>
          </a:prstGeom>
          <a:solidFill>
            <a:srgbClr val="12A39B"/>
          </a:solidFill>
          <a:ln w="12700">
            <a:solidFill>
              <a:srgbClr val="12A39B"/>
            </a:solidFill>
            <a:prstDash val="solid"/>
          </a:ln>
        </p:spPr>
        <p:txBody>
          <a:bodyPr/>
          <a:lstStyle/>
          <a:p>
            <a:endParaRPr lang="en-IN"/>
          </a:p>
        </p:txBody>
      </p:sp>
      <p:sp>
        <p:nvSpPr>
          <p:cNvPr id="3" name="Text 1"/>
          <p:cNvSpPr/>
          <p:nvPr/>
        </p:nvSpPr>
        <p:spPr>
          <a:xfrm>
            <a:off x="777240" y="1115568"/>
            <a:ext cx="10058400" cy="941832"/>
          </a:xfrm>
          <a:prstGeom prst="rect">
            <a:avLst/>
          </a:prstGeom>
          <a:noFill/>
          <a:ln/>
        </p:spPr>
        <p:txBody>
          <a:bodyPr wrap="square" lIns="0" tIns="0" rIns="0" bIns="0" rtlCol="0" anchor="ctr">
            <a:normAutofit/>
          </a:bodyPr>
          <a:lstStyle/>
          <a:p>
            <a:pPr marL="0" indent="0" algn="l">
              <a:buNone/>
            </a:pPr>
            <a:r>
              <a:rPr lang="en-US" sz="4800" b="1" dirty="0">
                <a:solidFill>
                  <a:srgbClr val="FFFFFF"/>
                </a:solidFill>
                <a:latin typeface="Aptos" pitchFamily="34" charset="0"/>
                <a:ea typeface="Aptos" pitchFamily="34" charset="-122"/>
                <a:cs typeface="Aptos" pitchFamily="34" charset="-120"/>
              </a:rPr>
              <a:t>MAINTAINIQ</a:t>
            </a:r>
            <a:endParaRPr lang="en-US" sz="4800" dirty="0"/>
          </a:p>
        </p:txBody>
      </p:sp>
      <p:sp>
        <p:nvSpPr>
          <p:cNvPr id="4" name="Text 2"/>
          <p:cNvSpPr/>
          <p:nvPr/>
        </p:nvSpPr>
        <p:spPr>
          <a:xfrm>
            <a:off x="804672" y="2240280"/>
            <a:ext cx="9875520" cy="1024128"/>
          </a:xfrm>
          <a:prstGeom prst="rect">
            <a:avLst/>
          </a:prstGeom>
          <a:noFill/>
          <a:ln/>
        </p:spPr>
        <p:txBody>
          <a:bodyPr wrap="square" lIns="0" tIns="0" rIns="0" bIns="0" rtlCol="0" anchor="ctr">
            <a:normAutofit/>
          </a:bodyPr>
          <a:lstStyle/>
          <a:p>
            <a:pPr marL="0" indent="0" algn="l">
              <a:buNone/>
            </a:pPr>
            <a:r>
              <a:rPr lang="en-US" sz="2500" dirty="0">
                <a:solidFill>
                  <a:srgbClr val="D9F3EF"/>
                </a:solidFill>
                <a:latin typeface="Aptos" pitchFamily="34" charset="0"/>
                <a:ea typeface="Aptos" pitchFamily="34" charset="-122"/>
                <a:cs typeface="Aptos" pitchFamily="34" charset="-120"/>
              </a:rPr>
              <a:t>Explainable MongoDB-Native Decision Support for Industrial Asset Health Monitoring</a:t>
            </a:r>
            <a:endParaRPr lang="en-US" sz="2500" dirty="0"/>
          </a:p>
        </p:txBody>
      </p:sp>
      <p:sp>
        <p:nvSpPr>
          <p:cNvPr id="5" name="Shape 3"/>
          <p:cNvSpPr/>
          <p:nvPr/>
        </p:nvSpPr>
        <p:spPr>
          <a:xfrm>
            <a:off x="804672" y="3959352"/>
            <a:ext cx="9875520" cy="969264"/>
          </a:xfrm>
          <a:prstGeom prst="roundRect">
            <a:avLst>
              <a:gd name="adj" fmla="val 11321"/>
            </a:avLst>
          </a:prstGeom>
          <a:solidFill>
            <a:srgbClr val="173B55"/>
          </a:solidFill>
          <a:ln w="12700">
            <a:solidFill>
              <a:srgbClr val="173B55"/>
            </a:solidFill>
            <a:prstDash val="solid"/>
          </a:ln>
        </p:spPr>
        <p:txBody>
          <a:bodyPr/>
          <a:lstStyle/>
          <a:p>
            <a:endParaRPr lang="en-IN"/>
          </a:p>
        </p:txBody>
      </p:sp>
      <p:sp>
        <p:nvSpPr>
          <p:cNvPr id="6" name="Text 4"/>
          <p:cNvSpPr/>
          <p:nvPr/>
        </p:nvSpPr>
        <p:spPr>
          <a:xfrm>
            <a:off x="1033272" y="4224528"/>
            <a:ext cx="9326880" cy="429768"/>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Detect anomalies  →  Score health  →  Prioritize  →  Explain  →  Act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WHY THIS PROJECT</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The practical problem: detection is not a decision</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02</a:t>
            </a:r>
            <a:endParaRPr lang="en-US" sz="900" dirty="0"/>
          </a:p>
        </p:txBody>
      </p:sp>
      <p:sp>
        <p:nvSpPr>
          <p:cNvPr id="8" name="Shape 6"/>
          <p:cNvSpPr/>
          <p:nvPr/>
        </p:nvSpPr>
        <p:spPr>
          <a:xfrm>
            <a:off x="566928" y="1517904"/>
            <a:ext cx="3557016" cy="2834640"/>
          </a:xfrm>
          <a:prstGeom prst="roundRect">
            <a:avLst>
              <a:gd name="adj" fmla="val 3871"/>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566928" y="1517904"/>
            <a:ext cx="64008" cy="2834640"/>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777240" y="1673352"/>
            <a:ext cx="314553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What sensors provide</a:t>
            </a:r>
            <a:endParaRPr lang="en-US" sz="1600" dirty="0"/>
          </a:p>
        </p:txBody>
      </p:sp>
      <p:sp>
        <p:nvSpPr>
          <p:cNvPr id="11" name="Text 9"/>
          <p:cNvSpPr/>
          <p:nvPr/>
        </p:nvSpPr>
        <p:spPr>
          <a:xfrm>
            <a:off x="777240" y="2084832"/>
            <a:ext cx="3136392" cy="21671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Pressure, temperature, motor-current and digital state readings collected continuously.</a:t>
            </a:r>
            <a:endParaRPr lang="en-US" sz="1340" dirty="0"/>
          </a:p>
        </p:txBody>
      </p:sp>
      <p:sp>
        <p:nvSpPr>
          <p:cNvPr id="12" name="Shape 10"/>
          <p:cNvSpPr/>
          <p:nvPr/>
        </p:nvSpPr>
        <p:spPr>
          <a:xfrm>
            <a:off x="4315968" y="1517904"/>
            <a:ext cx="3557016" cy="2834640"/>
          </a:xfrm>
          <a:prstGeom prst="roundRect">
            <a:avLst>
              <a:gd name="adj" fmla="val 3871"/>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4315968" y="1517904"/>
            <a:ext cx="64008" cy="2834640"/>
          </a:xfrm>
          <a:prstGeom prst="rect">
            <a:avLst/>
          </a:prstGeom>
          <a:solidFill>
            <a:srgbClr val="F7B84B"/>
          </a:solidFill>
          <a:ln w="12700">
            <a:solidFill>
              <a:srgbClr val="F7B84B"/>
            </a:solidFill>
            <a:prstDash val="solid"/>
          </a:ln>
        </p:spPr>
        <p:txBody>
          <a:bodyPr/>
          <a:lstStyle/>
          <a:p>
            <a:endParaRPr lang="en-IN"/>
          </a:p>
        </p:txBody>
      </p:sp>
      <p:sp>
        <p:nvSpPr>
          <p:cNvPr id="14" name="Text 12"/>
          <p:cNvSpPr/>
          <p:nvPr/>
        </p:nvSpPr>
        <p:spPr>
          <a:xfrm>
            <a:off x="4526280" y="1673352"/>
            <a:ext cx="314553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What a conventional alarm says</a:t>
            </a:r>
            <a:endParaRPr lang="en-US" sz="1600" dirty="0"/>
          </a:p>
        </p:txBody>
      </p:sp>
      <p:sp>
        <p:nvSpPr>
          <p:cNvPr id="15" name="Text 13"/>
          <p:cNvSpPr/>
          <p:nvPr/>
        </p:nvSpPr>
        <p:spPr>
          <a:xfrm>
            <a:off x="4526280" y="2084832"/>
            <a:ext cx="3136392" cy="21671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“Anomaly detected” — but not which asset to inspect first or what evidence triggered attention.</a:t>
            </a:r>
            <a:endParaRPr lang="en-US" sz="1340" dirty="0"/>
          </a:p>
        </p:txBody>
      </p:sp>
      <p:sp>
        <p:nvSpPr>
          <p:cNvPr id="16" name="Shape 14"/>
          <p:cNvSpPr/>
          <p:nvPr/>
        </p:nvSpPr>
        <p:spPr>
          <a:xfrm>
            <a:off x="8065008" y="1517904"/>
            <a:ext cx="3557016" cy="2834640"/>
          </a:xfrm>
          <a:prstGeom prst="roundRect">
            <a:avLst>
              <a:gd name="adj" fmla="val 3871"/>
            </a:avLst>
          </a:prstGeom>
          <a:solidFill>
            <a:srgbClr val="FFFFFF"/>
          </a:solidFill>
          <a:ln w="12700">
            <a:solidFill>
              <a:srgbClr val="DCE5EC"/>
            </a:solidFill>
            <a:prstDash val="solid"/>
          </a:ln>
        </p:spPr>
        <p:txBody>
          <a:bodyPr/>
          <a:lstStyle/>
          <a:p>
            <a:endParaRPr lang="en-IN"/>
          </a:p>
        </p:txBody>
      </p:sp>
      <p:sp>
        <p:nvSpPr>
          <p:cNvPr id="17" name="Shape 15"/>
          <p:cNvSpPr/>
          <p:nvPr/>
        </p:nvSpPr>
        <p:spPr>
          <a:xfrm>
            <a:off x="8065008" y="1517904"/>
            <a:ext cx="64008" cy="2834640"/>
          </a:xfrm>
          <a:prstGeom prst="rect">
            <a:avLst/>
          </a:prstGeom>
          <a:solidFill>
            <a:srgbClr val="12A39B"/>
          </a:solidFill>
          <a:ln w="12700">
            <a:solidFill>
              <a:srgbClr val="12A39B"/>
            </a:solidFill>
            <a:prstDash val="solid"/>
          </a:ln>
        </p:spPr>
        <p:txBody>
          <a:bodyPr/>
          <a:lstStyle/>
          <a:p>
            <a:endParaRPr lang="en-IN"/>
          </a:p>
        </p:txBody>
      </p:sp>
      <p:sp>
        <p:nvSpPr>
          <p:cNvPr id="18" name="Text 16"/>
          <p:cNvSpPr/>
          <p:nvPr/>
        </p:nvSpPr>
        <p:spPr>
          <a:xfrm>
            <a:off x="8275320" y="1673352"/>
            <a:ext cx="314553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What engineers need</a:t>
            </a:r>
            <a:endParaRPr lang="en-US" sz="1600" dirty="0"/>
          </a:p>
        </p:txBody>
      </p:sp>
      <p:sp>
        <p:nvSpPr>
          <p:cNvPr id="19" name="Text 17"/>
          <p:cNvSpPr/>
          <p:nvPr/>
        </p:nvSpPr>
        <p:spPr>
          <a:xfrm>
            <a:off x="8275320" y="2084832"/>
            <a:ext cx="3136392" cy="21671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How serious is it? Which sensor changed? Which asset matters most? What should I inspect?</a:t>
            </a:r>
            <a:endParaRPr lang="en-US" sz="1340" dirty="0"/>
          </a:p>
        </p:txBody>
      </p:sp>
      <p:sp>
        <p:nvSpPr>
          <p:cNvPr id="20" name="Shape 18"/>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1" name="Text 19"/>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MaintainIQ connects anomaly signals to practical maintenance decisions.</a:t>
            </a:r>
            <a:endParaRPr lang="en-US" sz="12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RELATED WORK</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The gap and our contribution</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03</a:t>
            </a:r>
            <a:endParaRPr lang="en-US" sz="900" dirty="0"/>
          </a:p>
        </p:txBody>
      </p:sp>
      <p:sp>
        <p:nvSpPr>
          <p:cNvPr id="8" name="Shape 6"/>
          <p:cNvSpPr/>
          <p:nvPr/>
        </p:nvSpPr>
        <p:spPr>
          <a:xfrm>
            <a:off x="566928" y="1444752"/>
            <a:ext cx="5385816" cy="3127248"/>
          </a:xfrm>
          <a:prstGeom prst="roundRect">
            <a:avLst>
              <a:gd name="adj" fmla="val 3509"/>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566928" y="1444752"/>
            <a:ext cx="64008" cy="3127248"/>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777240" y="1600200"/>
            <a:ext cx="497433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Earlier MetroPT-3 study</a:t>
            </a:r>
            <a:endParaRPr lang="en-US" sz="1600" dirty="0"/>
          </a:p>
        </p:txBody>
      </p:sp>
      <p:sp>
        <p:nvSpPr>
          <p:cNvPr id="11" name="Text 9"/>
          <p:cNvSpPr/>
          <p:nvPr/>
        </p:nvSpPr>
        <p:spPr>
          <a:xfrm>
            <a:off x="777240" y="2011680"/>
            <a:ext cx="4965192" cy="245973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An MLP-based autoencoder detected anomalous operating behaviour; the study reported F1 &gt; 0.96 in most cases and warnings up to two hours early.</a:t>
            </a:r>
            <a:endParaRPr lang="en-US" sz="1340" dirty="0"/>
          </a:p>
        </p:txBody>
      </p:sp>
      <p:sp>
        <p:nvSpPr>
          <p:cNvPr id="12" name="Shape 10"/>
          <p:cNvSpPr/>
          <p:nvPr/>
        </p:nvSpPr>
        <p:spPr>
          <a:xfrm>
            <a:off x="6153912" y="1444752"/>
            <a:ext cx="5449824" cy="3127248"/>
          </a:xfrm>
          <a:prstGeom prst="roundRect">
            <a:avLst>
              <a:gd name="adj" fmla="val 3509"/>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153912" y="1444752"/>
            <a:ext cx="64008" cy="3127248"/>
          </a:xfrm>
          <a:prstGeom prst="rect">
            <a:avLst/>
          </a:prstGeom>
          <a:solidFill>
            <a:srgbClr val="12A39B"/>
          </a:solidFill>
          <a:ln w="12700">
            <a:solidFill>
              <a:srgbClr val="12A39B"/>
            </a:solidFill>
            <a:prstDash val="solid"/>
          </a:ln>
        </p:spPr>
        <p:txBody>
          <a:bodyPr/>
          <a:lstStyle/>
          <a:p>
            <a:endParaRPr lang="en-IN"/>
          </a:p>
        </p:txBody>
      </p:sp>
      <p:sp>
        <p:nvSpPr>
          <p:cNvPr id="14" name="Text 12"/>
          <p:cNvSpPr/>
          <p:nvPr/>
        </p:nvSpPr>
        <p:spPr>
          <a:xfrm>
            <a:off x="6364224" y="1600200"/>
            <a:ext cx="5038344"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MaintainIQ extension</a:t>
            </a:r>
            <a:endParaRPr lang="en-US" sz="1600" dirty="0"/>
          </a:p>
        </p:txBody>
      </p:sp>
      <p:sp>
        <p:nvSpPr>
          <p:cNvPr id="15" name="Text 13"/>
          <p:cNvSpPr/>
          <p:nvPr/>
        </p:nvSpPr>
        <p:spPr>
          <a:xfrm>
            <a:off x="6364224" y="2011680"/>
            <a:ext cx="5029200" cy="245973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Sequence-aware LSTM detection + MongoDB health analytics + maintenance ranking + rule explanations + natural-language access.</a:t>
            </a:r>
            <a:endParaRPr lang="en-US" sz="1340" dirty="0"/>
          </a:p>
        </p:txBody>
      </p:sp>
      <p:sp>
        <p:nvSpPr>
          <p:cNvPr id="16" name="Shape 14"/>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17" name="Text 15"/>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Our claimed contribution is system integration and actionable interpretation, not invention of each algorithm.</a:t>
            </a:r>
            <a:endParaRPr lang="en-US" sz="1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SYSTEM OVERVIEW</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What we built: one complete workflow</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04</a:t>
            </a:r>
            <a:endParaRPr lang="en-US" sz="900" dirty="0"/>
          </a:p>
        </p:txBody>
      </p:sp>
      <p:sp>
        <p:nvSpPr>
          <p:cNvPr id="8" name="Shape 6"/>
          <p:cNvSpPr/>
          <p:nvPr/>
        </p:nvSpPr>
        <p:spPr>
          <a:xfrm>
            <a:off x="521208" y="1947672"/>
            <a:ext cx="1700784" cy="1499616"/>
          </a:xfrm>
          <a:prstGeom prst="roundRect">
            <a:avLst>
              <a:gd name="adj" fmla="val 7317"/>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612648"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MetroPT-3</a:t>
            </a:r>
            <a:endParaRPr lang="en-US" sz="1800" dirty="0"/>
          </a:p>
        </p:txBody>
      </p:sp>
      <p:sp>
        <p:nvSpPr>
          <p:cNvPr id="10" name="Text 8"/>
          <p:cNvSpPr/>
          <p:nvPr/>
        </p:nvSpPr>
        <p:spPr>
          <a:xfrm>
            <a:off x="612648"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Sensor data</a:t>
            </a:r>
            <a:endParaRPr lang="en-US" sz="1280" dirty="0"/>
          </a:p>
        </p:txBody>
      </p:sp>
      <p:sp>
        <p:nvSpPr>
          <p:cNvPr id="11" name="Shape 9"/>
          <p:cNvSpPr/>
          <p:nvPr/>
        </p:nvSpPr>
        <p:spPr>
          <a:xfrm>
            <a:off x="2267712" y="2487168"/>
            <a:ext cx="164592" cy="347472"/>
          </a:xfrm>
          <a:prstGeom prst="chevron">
            <a:avLst/>
          </a:prstGeom>
          <a:solidFill>
            <a:srgbClr val="12A39B"/>
          </a:solidFill>
          <a:ln w="12700">
            <a:solidFill>
              <a:srgbClr val="12A39B"/>
            </a:solidFill>
            <a:prstDash val="solid"/>
          </a:ln>
        </p:spPr>
        <p:txBody>
          <a:bodyPr/>
          <a:lstStyle/>
          <a:p>
            <a:endParaRPr lang="en-IN"/>
          </a:p>
        </p:txBody>
      </p:sp>
      <p:sp>
        <p:nvSpPr>
          <p:cNvPr id="12" name="Shape 10"/>
          <p:cNvSpPr/>
          <p:nvPr/>
        </p:nvSpPr>
        <p:spPr>
          <a:xfrm>
            <a:off x="2468880" y="1947672"/>
            <a:ext cx="1700784" cy="1499616"/>
          </a:xfrm>
          <a:prstGeom prst="roundRect">
            <a:avLst>
              <a:gd name="adj" fmla="val 7317"/>
            </a:avLst>
          </a:prstGeom>
          <a:solidFill>
            <a:srgbClr val="EAF7F6"/>
          </a:solidFill>
          <a:ln w="12700">
            <a:solidFill>
              <a:srgbClr val="DCE5EC"/>
            </a:solidFill>
            <a:prstDash val="solid"/>
          </a:ln>
        </p:spPr>
        <p:txBody>
          <a:bodyPr/>
          <a:lstStyle/>
          <a:p>
            <a:endParaRPr lang="en-IN"/>
          </a:p>
        </p:txBody>
      </p:sp>
      <p:sp>
        <p:nvSpPr>
          <p:cNvPr id="13" name="Text 11"/>
          <p:cNvSpPr/>
          <p:nvPr/>
        </p:nvSpPr>
        <p:spPr>
          <a:xfrm>
            <a:off x="2560320"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MongoDB</a:t>
            </a:r>
            <a:endParaRPr lang="en-US" sz="1800" dirty="0"/>
          </a:p>
        </p:txBody>
      </p:sp>
      <p:sp>
        <p:nvSpPr>
          <p:cNvPr id="14" name="Text 12"/>
          <p:cNvSpPr/>
          <p:nvPr/>
        </p:nvSpPr>
        <p:spPr>
          <a:xfrm>
            <a:off x="2560320"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Time-series</a:t>
            </a:r>
            <a:endParaRPr lang="en-US" sz="1280" dirty="0"/>
          </a:p>
        </p:txBody>
      </p:sp>
      <p:sp>
        <p:nvSpPr>
          <p:cNvPr id="15" name="Shape 13"/>
          <p:cNvSpPr/>
          <p:nvPr/>
        </p:nvSpPr>
        <p:spPr>
          <a:xfrm>
            <a:off x="4215384" y="2487168"/>
            <a:ext cx="164592" cy="347472"/>
          </a:xfrm>
          <a:prstGeom prst="chevron">
            <a:avLst/>
          </a:prstGeom>
          <a:solidFill>
            <a:srgbClr val="12A39B"/>
          </a:solidFill>
          <a:ln w="12700">
            <a:solidFill>
              <a:srgbClr val="12A39B"/>
            </a:solidFill>
            <a:prstDash val="solid"/>
          </a:ln>
        </p:spPr>
        <p:txBody>
          <a:bodyPr/>
          <a:lstStyle/>
          <a:p>
            <a:endParaRPr lang="en-IN"/>
          </a:p>
        </p:txBody>
      </p:sp>
      <p:sp>
        <p:nvSpPr>
          <p:cNvPr id="16" name="Shape 14"/>
          <p:cNvSpPr/>
          <p:nvPr/>
        </p:nvSpPr>
        <p:spPr>
          <a:xfrm>
            <a:off x="4416552" y="1947672"/>
            <a:ext cx="1700784" cy="1499616"/>
          </a:xfrm>
          <a:prstGeom prst="roundRect">
            <a:avLst>
              <a:gd name="adj" fmla="val 7317"/>
            </a:avLst>
          </a:prstGeom>
          <a:solidFill>
            <a:srgbClr val="FFFFFF"/>
          </a:solidFill>
          <a:ln w="12700">
            <a:solidFill>
              <a:srgbClr val="DCE5EC"/>
            </a:solidFill>
            <a:prstDash val="solid"/>
          </a:ln>
        </p:spPr>
        <p:txBody>
          <a:bodyPr/>
          <a:lstStyle/>
          <a:p>
            <a:endParaRPr lang="en-IN"/>
          </a:p>
        </p:txBody>
      </p:sp>
      <p:sp>
        <p:nvSpPr>
          <p:cNvPr id="17" name="Text 15"/>
          <p:cNvSpPr/>
          <p:nvPr/>
        </p:nvSpPr>
        <p:spPr>
          <a:xfrm>
            <a:off x="4507992"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LSTM AE</a:t>
            </a:r>
            <a:endParaRPr lang="en-US" sz="1800" dirty="0"/>
          </a:p>
        </p:txBody>
      </p:sp>
      <p:sp>
        <p:nvSpPr>
          <p:cNvPr id="18" name="Text 16"/>
          <p:cNvSpPr/>
          <p:nvPr/>
        </p:nvSpPr>
        <p:spPr>
          <a:xfrm>
            <a:off x="4507992"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Anomalies</a:t>
            </a:r>
            <a:endParaRPr lang="en-US" sz="1280" dirty="0"/>
          </a:p>
        </p:txBody>
      </p:sp>
      <p:sp>
        <p:nvSpPr>
          <p:cNvPr id="19" name="Shape 17"/>
          <p:cNvSpPr/>
          <p:nvPr/>
        </p:nvSpPr>
        <p:spPr>
          <a:xfrm>
            <a:off x="6163056" y="2487168"/>
            <a:ext cx="164592" cy="347472"/>
          </a:xfrm>
          <a:prstGeom prst="chevron">
            <a:avLst/>
          </a:prstGeom>
          <a:solidFill>
            <a:srgbClr val="12A39B"/>
          </a:solidFill>
          <a:ln w="12700">
            <a:solidFill>
              <a:srgbClr val="12A39B"/>
            </a:solidFill>
            <a:prstDash val="solid"/>
          </a:ln>
        </p:spPr>
        <p:txBody>
          <a:bodyPr/>
          <a:lstStyle/>
          <a:p>
            <a:endParaRPr lang="en-IN"/>
          </a:p>
        </p:txBody>
      </p:sp>
      <p:sp>
        <p:nvSpPr>
          <p:cNvPr id="20" name="Shape 18"/>
          <p:cNvSpPr/>
          <p:nvPr/>
        </p:nvSpPr>
        <p:spPr>
          <a:xfrm>
            <a:off x="6364224" y="1947672"/>
            <a:ext cx="1700784" cy="1499616"/>
          </a:xfrm>
          <a:prstGeom prst="roundRect">
            <a:avLst>
              <a:gd name="adj" fmla="val 7317"/>
            </a:avLst>
          </a:prstGeom>
          <a:solidFill>
            <a:srgbClr val="EAF7F6"/>
          </a:solidFill>
          <a:ln w="12700">
            <a:solidFill>
              <a:srgbClr val="DCE5EC"/>
            </a:solidFill>
            <a:prstDash val="solid"/>
          </a:ln>
        </p:spPr>
        <p:txBody>
          <a:bodyPr/>
          <a:lstStyle/>
          <a:p>
            <a:endParaRPr lang="en-IN"/>
          </a:p>
        </p:txBody>
      </p:sp>
      <p:sp>
        <p:nvSpPr>
          <p:cNvPr id="21" name="Text 19"/>
          <p:cNvSpPr/>
          <p:nvPr/>
        </p:nvSpPr>
        <p:spPr>
          <a:xfrm>
            <a:off x="6455664"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DAHI</a:t>
            </a:r>
            <a:endParaRPr lang="en-US" sz="1800" dirty="0"/>
          </a:p>
        </p:txBody>
      </p:sp>
      <p:sp>
        <p:nvSpPr>
          <p:cNvPr id="22" name="Text 20"/>
          <p:cNvSpPr/>
          <p:nvPr/>
        </p:nvSpPr>
        <p:spPr>
          <a:xfrm>
            <a:off x="6455664"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0–100 health</a:t>
            </a:r>
            <a:endParaRPr lang="en-US" sz="1280" dirty="0"/>
          </a:p>
        </p:txBody>
      </p:sp>
      <p:sp>
        <p:nvSpPr>
          <p:cNvPr id="23" name="Shape 21"/>
          <p:cNvSpPr/>
          <p:nvPr/>
        </p:nvSpPr>
        <p:spPr>
          <a:xfrm>
            <a:off x="8110728" y="2487168"/>
            <a:ext cx="164592" cy="347472"/>
          </a:xfrm>
          <a:prstGeom prst="chevron">
            <a:avLst/>
          </a:prstGeom>
          <a:solidFill>
            <a:srgbClr val="12A39B"/>
          </a:solidFill>
          <a:ln w="12700">
            <a:solidFill>
              <a:srgbClr val="12A39B"/>
            </a:solidFill>
            <a:prstDash val="solid"/>
          </a:ln>
        </p:spPr>
        <p:txBody>
          <a:bodyPr/>
          <a:lstStyle/>
          <a:p>
            <a:endParaRPr lang="en-IN"/>
          </a:p>
        </p:txBody>
      </p:sp>
      <p:sp>
        <p:nvSpPr>
          <p:cNvPr id="24" name="Shape 22"/>
          <p:cNvSpPr/>
          <p:nvPr/>
        </p:nvSpPr>
        <p:spPr>
          <a:xfrm>
            <a:off x="8311896" y="1947672"/>
            <a:ext cx="1700784" cy="1499616"/>
          </a:xfrm>
          <a:prstGeom prst="roundRect">
            <a:avLst>
              <a:gd name="adj" fmla="val 7317"/>
            </a:avLst>
          </a:prstGeom>
          <a:solidFill>
            <a:srgbClr val="FFFFFF"/>
          </a:solidFill>
          <a:ln w="12700">
            <a:solidFill>
              <a:srgbClr val="DCE5EC"/>
            </a:solidFill>
            <a:prstDash val="solid"/>
          </a:ln>
        </p:spPr>
        <p:txBody>
          <a:bodyPr/>
          <a:lstStyle/>
          <a:p>
            <a:endParaRPr lang="en-IN"/>
          </a:p>
        </p:txBody>
      </p:sp>
      <p:sp>
        <p:nvSpPr>
          <p:cNvPr id="25" name="Text 23"/>
          <p:cNvSpPr/>
          <p:nvPr/>
        </p:nvSpPr>
        <p:spPr>
          <a:xfrm>
            <a:off x="8403336"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MAPE</a:t>
            </a:r>
            <a:endParaRPr lang="en-US" sz="1800" dirty="0"/>
          </a:p>
        </p:txBody>
      </p:sp>
      <p:sp>
        <p:nvSpPr>
          <p:cNvPr id="26" name="Text 24"/>
          <p:cNvSpPr/>
          <p:nvPr/>
        </p:nvSpPr>
        <p:spPr>
          <a:xfrm>
            <a:off x="8403336"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Priority</a:t>
            </a:r>
            <a:endParaRPr lang="en-US" sz="1280" dirty="0"/>
          </a:p>
        </p:txBody>
      </p:sp>
      <p:sp>
        <p:nvSpPr>
          <p:cNvPr id="27" name="Shape 25"/>
          <p:cNvSpPr/>
          <p:nvPr/>
        </p:nvSpPr>
        <p:spPr>
          <a:xfrm>
            <a:off x="10058400" y="2487168"/>
            <a:ext cx="164592" cy="347472"/>
          </a:xfrm>
          <a:prstGeom prst="chevron">
            <a:avLst/>
          </a:prstGeom>
          <a:solidFill>
            <a:srgbClr val="12A39B"/>
          </a:solidFill>
          <a:ln w="12700">
            <a:solidFill>
              <a:srgbClr val="12A39B"/>
            </a:solidFill>
            <a:prstDash val="solid"/>
          </a:ln>
        </p:spPr>
        <p:txBody>
          <a:bodyPr/>
          <a:lstStyle/>
          <a:p>
            <a:endParaRPr lang="en-IN"/>
          </a:p>
        </p:txBody>
      </p:sp>
      <p:sp>
        <p:nvSpPr>
          <p:cNvPr id="28" name="Shape 26"/>
          <p:cNvSpPr/>
          <p:nvPr/>
        </p:nvSpPr>
        <p:spPr>
          <a:xfrm>
            <a:off x="10259568" y="1947672"/>
            <a:ext cx="1700784" cy="1499616"/>
          </a:xfrm>
          <a:prstGeom prst="roundRect">
            <a:avLst>
              <a:gd name="adj" fmla="val 7317"/>
            </a:avLst>
          </a:prstGeom>
          <a:solidFill>
            <a:srgbClr val="EAF7F6"/>
          </a:solidFill>
          <a:ln w="12700">
            <a:solidFill>
              <a:srgbClr val="DCE5EC"/>
            </a:solidFill>
            <a:prstDash val="solid"/>
          </a:ln>
        </p:spPr>
        <p:txBody>
          <a:bodyPr/>
          <a:lstStyle/>
          <a:p>
            <a:endParaRPr lang="en-IN"/>
          </a:p>
        </p:txBody>
      </p:sp>
      <p:sp>
        <p:nvSpPr>
          <p:cNvPr id="29" name="Text 27"/>
          <p:cNvSpPr/>
          <p:nvPr/>
        </p:nvSpPr>
        <p:spPr>
          <a:xfrm>
            <a:off x="10351008" y="2240280"/>
            <a:ext cx="1517904" cy="320040"/>
          </a:xfrm>
          <a:prstGeom prst="rect">
            <a:avLst/>
          </a:prstGeom>
          <a:noFill/>
          <a:ln/>
        </p:spPr>
        <p:txBody>
          <a:bodyPr wrap="square" lIns="0" tIns="0" rIns="0" bIns="0" rtlCol="0" anchor="ctr">
            <a:normAutofit/>
          </a:bodyPr>
          <a:lstStyle/>
          <a:p>
            <a:pPr marL="0" indent="0" algn="ctr">
              <a:buNone/>
            </a:pPr>
            <a:r>
              <a:rPr lang="en-US" sz="1800" b="1" dirty="0">
                <a:solidFill>
                  <a:srgbClr val="102A43"/>
                </a:solidFill>
                <a:latin typeface="Aptos" pitchFamily="34" charset="0"/>
                <a:ea typeface="Aptos" pitchFamily="34" charset="-122"/>
                <a:cs typeface="Aptos" pitchFamily="34" charset="-120"/>
              </a:rPr>
              <a:t>EME + AMA</a:t>
            </a:r>
            <a:endParaRPr lang="en-US" sz="1800" dirty="0"/>
          </a:p>
        </p:txBody>
      </p:sp>
      <p:sp>
        <p:nvSpPr>
          <p:cNvPr id="30" name="Text 28"/>
          <p:cNvSpPr/>
          <p:nvPr/>
        </p:nvSpPr>
        <p:spPr>
          <a:xfrm>
            <a:off x="10351008" y="2706624"/>
            <a:ext cx="1517904" cy="384048"/>
          </a:xfrm>
          <a:prstGeom prst="rect">
            <a:avLst/>
          </a:prstGeom>
          <a:noFill/>
          <a:ln/>
        </p:spPr>
        <p:txBody>
          <a:bodyPr wrap="square" lIns="0" tIns="0" rIns="0" bIns="0" rtlCol="0" anchor="ctr">
            <a:normAutofit/>
          </a:bodyPr>
          <a:lstStyle/>
          <a:p>
            <a:pPr marL="0" indent="0" algn="ctr">
              <a:buNone/>
            </a:pPr>
            <a:r>
              <a:rPr lang="en-US" sz="1280" dirty="0">
                <a:solidFill>
                  <a:srgbClr val="637489"/>
                </a:solidFill>
                <a:latin typeface="Aptos" pitchFamily="34" charset="0"/>
                <a:ea typeface="Aptos" pitchFamily="34" charset="-122"/>
                <a:cs typeface="Aptos" pitchFamily="34" charset="-120"/>
              </a:rPr>
              <a:t>Action &amp; query</a:t>
            </a:r>
            <a:endParaRPr lang="en-US" sz="1280" dirty="0"/>
          </a:p>
        </p:txBody>
      </p:sp>
      <p:sp>
        <p:nvSpPr>
          <p:cNvPr id="31" name="Shape 29"/>
          <p:cNvSpPr/>
          <p:nvPr/>
        </p:nvSpPr>
        <p:spPr>
          <a:xfrm>
            <a:off x="914400" y="4160520"/>
            <a:ext cx="10332720" cy="896112"/>
          </a:xfrm>
          <a:prstGeom prst="roundRect">
            <a:avLst>
              <a:gd name="adj" fmla="val 12245"/>
            </a:avLst>
          </a:prstGeom>
          <a:solidFill>
            <a:srgbClr val="FFFFFF"/>
          </a:solidFill>
          <a:ln w="12700">
            <a:solidFill>
              <a:srgbClr val="DCE5EC"/>
            </a:solidFill>
            <a:prstDash val="solid"/>
          </a:ln>
        </p:spPr>
        <p:txBody>
          <a:bodyPr/>
          <a:lstStyle/>
          <a:p>
            <a:endParaRPr lang="en-IN"/>
          </a:p>
        </p:txBody>
      </p:sp>
      <p:sp>
        <p:nvSpPr>
          <p:cNvPr id="32" name="Text 30"/>
          <p:cNvSpPr/>
          <p:nvPr/>
        </p:nvSpPr>
        <p:spPr>
          <a:xfrm>
            <a:off x="1188720" y="4407408"/>
            <a:ext cx="9829800" cy="411480"/>
          </a:xfrm>
          <a:prstGeom prst="rect">
            <a:avLst/>
          </a:prstGeom>
          <a:noFill/>
          <a:ln/>
        </p:spPr>
        <p:txBody>
          <a:bodyPr wrap="square" lIns="0" tIns="0" rIns="0" bIns="0" rtlCol="0" anchor="ctr">
            <a:normAutofit/>
          </a:bodyPr>
          <a:lstStyle/>
          <a:p>
            <a:pPr marL="0" indent="0" algn="ctr">
              <a:buNone/>
            </a:pPr>
            <a:r>
              <a:rPr lang="en-US" sz="1700" dirty="0">
                <a:solidFill>
                  <a:srgbClr val="102A43"/>
                </a:solidFill>
                <a:latin typeface="Aptos" pitchFamily="34" charset="0"/>
                <a:ea typeface="Aptos" pitchFamily="34" charset="-122"/>
                <a:cs typeface="Aptos" pitchFamily="34" charset="-120"/>
              </a:rPr>
              <a:t>MongoDB stores timestamped sensor data and computes DAHI through aggregation pipelines; Python performs LSTM inference.</a:t>
            </a:r>
            <a:endParaRPr lang="en-US" sz="1700" dirty="0"/>
          </a:p>
        </p:txBody>
      </p:sp>
      <p:sp>
        <p:nvSpPr>
          <p:cNvPr id="33" name="Shape 31"/>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34" name="Text 32"/>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Each stage produces information needed by the next stage.</a:t>
            </a:r>
            <a:endParaRPr lang="en-US" sz="12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DATA</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Dataset: what we worked with</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05</a:t>
            </a:r>
            <a:endParaRPr lang="en-US" sz="900" dirty="0"/>
          </a:p>
        </p:txBody>
      </p:sp>
      <p:sp>
        <p:nvSpPr>
          <p:cNvPr id="8" name="Shape 6"/>
          <p:cNvSpPr/>
          <p:nvPr/>
        </p:nvSpPr>
        <p:spPr>
          <a:xfrm>
            <a:off x="585216" y="1554480"/>
            <a:ext cx="3520440"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749808" y="1719072"/>
            <a:ext cx="3191256"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1,516,948</a:t>
            </a:r>
            <a:endParaRPr lang="en-US" sz="3700" dirty="0"/>
          </a:p>
        </p:txBody>
      </p:sp>
      <p:sp>
        <p:nvSpPr>
          <p:cNvPr id="10" name="Text 8"/>
          <p:cNvSpPr/>
          <p:nvPr/>
        </p:nvSpPr>
        <p:spPr>
          <a:xfrm>
            <a:off x="768096" y="2514600"/>
            <a:ext cx="3154680"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timestamped records</a:t>
            </a:r>
            <a:endParaRPr lang="en-US" sz="1400" dirty="0"/>
          </a:p>
        </p:txBody>
      </p:sp>
      <p:sp>
        <p:nvSpPr>
          <p:cNvPr id="11" name="Shape 9"/>
          <p:cNvSpPr/>
          <p:nvPr/>
        </p:nvSpPr>
        <p:spPr>
          <a:xfrm>
            <a:off x="4343400" y="1554480"/>
            <a:ext cx="3502152"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2" name="Text 10"/>
          <p:cNvSpPr/>
          <p:nvPr/>
        </p:nvSpPr>
        <p:spPr>
          <a:xfrm>
            <a:off x="4507992" y="1719072"/>
            <a:ext cx="3172968"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15</a:t>
            </a:r>
            <a:endParaRPr lang="en-US" sz="3700" dirty="0"/>
          </a:p>
        </p:txBody>
      </p:sp>
      <p:sp>
        <p:nvSpPr>
          <p:cNvPr id="13" name="Text 11"/>
          <p:cNvSpPr/>
          <p:nvPr/>
        </p:nvSpPr>
        <p:spPr>
          <a:xfrm>
            <a:off x="4526280" y="2514600"/>
            <a:ext cx="3136392"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sensor channels: 7 analog + 8 digital</a:t>
            </a:r>
            <a:endParaRPr lang="en-US" sz="1400" dirty="0"/>
          </a:p>
        </p:txBody>
      </p:sp>
      <p:sp>
        <p:nvSpPr>
          <p:cNvPr id="14" name="Shape 12"/>
          <p:cNvSpPr/>
          <p:nvPr/>
        </p:nvSpPr>
        <p:spPr>
          <a:xfrm>
            <a:off x="8092440" y="1554480"/>
            <a:ext cx="3502152"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8257032" y="1719072"/>
            <a:ext cx="3172968"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4</a:t>
            </a:r>
            <a:endParaRPr lang="en-US" sz="3700" dirty="0"/>
          </a:p>
        </p:txBody>
      </p:sp>
      <p:sp>
        <p:nvSpPr>
          <p:cNvPr id="16" name="Text 14"/>
          <p:cNvSpPr/>
          <p:nvPr/>
        </p:nvSpPr>
        <p:spPr>
          <a:xfrm>
            <a:off x="8275320" y="2514600"/>
            <a:ext cx="3136392"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documented failure periods</a:t>
            </a:r>
            <a:endParaRPr lang="en-US" sz="1400" dirty="0"/>
          </a:p>
        </p:txBody>
      </p:sp>
      <p:sp>
        <p:nvSpPr>
          <p:cNvPr id="17" name="Shape 15"/>
          <p:cNvSpPr/>
          <p:nvPr/>
        </p:nvSpPr>
        <p:spPr>
          <a:xfrm>
            <a:off x="640080" y="3438144"/>
            <a:ext cx="5349240" cy="1463040"/>
          </a:xfrm>
          <a:prstGeom prst="roundRect">
            <a:avLst>
              <a:gd name="adj" fmla="val 7500"/>
            </a:avLst>
          </a:prstGeom>
          <a:solidFill>
            <a:srgbClr val="FFFFFF"/>
          </a:solidFill>
          <a:ln w="12700">
            <a:solidFill>
              <a:srgbClr val="DCE5EC"/>
            </a:solidFill>
            <a:prstDash val="solid"/>
          </a:ln>
        </p:spPr>
        <p:txBody>
          <a:bodyPr/>
          <a:lstStyle/>
          <a:p>
            <a:endParaRPr lang="en-IN"/>
          </a:p>
        </p:txBody>
      </p:sp>
      <p:sp>
        <p:nvSpPr>
          <p:cNvPr id="18" name="Shape 16"/>
          <p:cNvSpPr/>
          <p:nvPr/>
        </p:nvSpPr>
        <p:spPr>
          <a:xfrm>
            <a:off x="640080" y="3438144"/>
            <a:ext cx="64008" cy="1463040"/>
          </a:xfrm>
          <a:prstGeom prst="rect">
            <a:avLst/>
          </a:prstGeom>
          <a:solidFill>
            <a:srgbClr val="147D92"/>
          </a:solidFill>
          <a:ln w="12700">
            <a:solidFill>
              <a:srgbClr val="147D92"/>
            </a:solidFill>
            <a:prstDash val="solid"/>
          </a:ln>
        </p:spPr>
        <p:txBody>
          <a:bodyPr/>
          <a:lstStyle/>
          <a:p>
            <a:endParaRPr lang="en-IN"/>
          </a:p>
        </p:txBody>
      </p:sp>
      <p:sp>
        <p:nvSpPr>
          <p:cNvPr id="19" name="Text 17"/>
          <p:cNvSpPr/>
          <p:nvPr/>
        </p:nvSpPr>
        <p:spPr>
          <a:xfrm>
            <a:off x="850392" y="3593592"/>
            <a:ext cx="4937760"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Physical system</a:t>
            </a:r>
            <a:endParaRPr lang="en-US" sz="1600" dirty="0"/>
          </a:p>
        </p:txBody>
      </p:sp>
      <p:sp>
        <p:nvSpPr>
          <p:cNvPr id="20" name="Text 18"/>
          <p:cNvSpPr/>
          <p:nvPr/>
        </p:nvSpPr>
        <p:spPr>
          <a:xfrm>
            <a:off x="850392" y="4005072"/>
            <a:ext cx="4928616" cy="7955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MetroPT-3: Air Production Unit (APU) on a metro train in Portugal.</a:t>
            </a:r>
            <a:endParaRPr lang="en-US" sz="1340" dirty="0"/>
          </a:p>
        </p:txBody>
      </p:sp>
      <p:sp>
        <p:nvSpPr>
          <p:cNvPr id="21" name="Shape 19"/>
          <p:cNvSpPr/>
          <p:nvPr/>
        </p:nvSpPr>
        <p:spPr>
          <a:xfrm>
            <a:off x="6190488" y="3438144"/>
            <a:ext cx="5349240" cy="1463040"/>
          </a:xfrm>
          <a:prstGeom prst="roundRect">
            <a:avLst>
              <a:gd name="adj" fmla="val 7500"/>
            </a:avLst>
          </a:prstGeom>
          <a:solidFill>
            <a:srgbClr val="FFFFFF"/>
          </a:solidFill>
          <a:ln w="12700">
            <a:solidFill>
              <a:srgbClr val="DCE5EC"/>
            </a:solidFill>
            <a:prstDash val="solid"/>
          </a:ln>
        </p:spPr>
        <p:txBody>
          <a:bodyPr/>
          <a:lstStyle/>
          <a:p>
            <a:endParaRPr lang="en-IN"/>
          </a:p>
        </p:txBody>
      </p:sp>
      <p:sp>
        <p:nvSpPr>
          <p:cNvPr id="22" name="Shape 20"/>
          <p:cNvSpPr/>
          <p:nvPr/>
        </p:nvSpPr>
        <p:spPr>
          <a:xfrm>
            <a:off x="6190488" y="3438144"/>
            <a:ext cx="64008" cy="1463040"/>
          </a:xfrm>
          <a:prstGeom prst="rect">
            <a:avLst/>
          </a:prstGeom>
          <a:solidFill>
            <a:srgbClr val="12A39B"/>
          </a:solidFill>
          <a:ln w="12700">
            <a:solidFill>
              <a:srgbClr val="12A39B"/>
            </a:solidFill>
            <a:prstDash val="solid"/>
          </a:ln>
        </p:spPr>
        <p:txBody>
          <a:bodyPr/>
          <a:lstStyle/>
          <a:p>
            <a:endParaRPr lang="en-IN"/>
          </a:p>
        </p:txBody>
      </p:sp>
      <p:sp>
        <p:nvSpPr>
          <p:cNvPr id="23" name="Text 21"/>
          <p:cNvSpPr/>
          <p:nvPr/>
        </p:nvSpPr>
        <p:spPr>
          <a:xfrm>
            <a:off x="6400800" y="3593592"/>
            <a:ext cx="4937760"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Example features</a:t>
            </a:r>
            <a:endParaRPr lang="en-US" sz="1600" dirty="0"/>
          </a:p>
        </p:txBody>
      </p:sp>
      <p:sp>
        <p:nvSpPr>
          <p:cNvPr id="24" name="Text 22"/>
          <p:cNvSpPr/>
          <p:nvPr/>
        </p:nvSpPr>
        <p:spPr>
          <a:xfrm>
            <a:off x="6400800" y="4005072"/>
            <a:ext cx="4928616" cy="7955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TP2 / TP3 pressure, oil temperature, motor current, compressor and valve status.</a:t>
            </a:r>
            <a:endParaRPr lang="en-US" sz="1340" dirty="0"/>
          </a:p>
        </p:txBody>
      </p:sp>
      <p:sp>
        <p:nvSpPr>
          <p:cNvPr id="25" name="Shape 23"/>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6" name="Text 24"/>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Many sensor readings do not mean many independent failure cases.</a:t>
            </a:r>
            <a:endParaRPr lang="en-US" sz="12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DATA PIPELINE</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1: prepare the sensor data</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06</a:t>
            </a:r>
            <a:endParaRPr lang="en-US" sz="900" dirty="0"/>
          </a:p>
        </p:txBody>
      </p:sp>
      <p:sp>
        <p:nvSpPr>
          <p:cNvPr id="8" name="Shape 6"/>
          <p:cNvSpPr/>
          <p:nvPr/>
        </p:nvSpPr>
        <p:spPr>
          <a:xfrm>
            <a:off x="612648" y="1362456"/>
            <a:ext cx="10945368" cy="649224"/>
          </a:xfrm>
          <a:prstGeom prst="roundRect">
            <a:avLst>
              <a:gd name="adj" fmla="val 16901"/>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804672" y="1472184"/>
            <a:ext cx="502920" cy="320040"/>
          </a:xfrm>
          <a:prstGeom prst="rect">
            <a:avLst/>
          </a:prstGeom>
          <a:noFill/>
          <a:ln/>
        </p:spPr>
        <p:txBody>
          <a:bodyPr wrap="square" lIns="0" tIns="0" rIns="0" bIns="0" rtlCol="0" anchor="ctr">
            <a:normAutofit/>
          </a:bodyPr>
          <a:lstStyle/>
          <a:p>
            <a:pPr marL="0" indent="0" algn="l">
              <a:buNone/>
            </a:pPr>
            <a:r>
              <a:rPr lang="en-US" sz="1800" b="1" dirty="0">
                <a:solidFill>
                  <a:srgbClr val="147D92"/>
                </a:solidFill>
                <a:latin typeface="Aptos" pitchFamily="34" charset="0"/>
                <a:ea typeface="Aptos" pitchFamily="34" charset="-122"/>
                <a:cs typeface="Aptos" pitchFamily="34" charset="-120"/>
              </a:rPr>
              <a:t>01</a:t>
            </a:r>
            <a:endParaRPr lang="en-US" sz="1800" dirty="0"/>
          </a:p>
        </p:txBody>
      </p:sp>
      <p:sp>
        <p:nvSpPr>
          <p:cNvPr id="10" name="Text 8"/>
          <p:cNvSpPr/>
          <p:nvPr/>
        </p:nvSpPr>
        <p:spPr>
          <a:xfrm>
            <a:off x="1453896" y="1463040"/>
            <a:ext cx="2395728" cy="338328"/>
          </a:xfrm>
          <a:prstGeom prst="rect">
            <a:avLst/>
          </a:prstGeom>
          <a:noFill/>
          <a:ln/>
        </p:spPr>
        <p:txBody>
          <a:bodyPr wrap="square" lIns="0" tIns="0" rIns="0" bIns="0" rtlCol="0" anchor="ctr">
            <a:normAutofit/>
          </a:bodyPr>
          <a:lstStyle/>
          <a:p>
            <a:pPr marL="0" indent="0" algn="l">
              <a:buNone/>
            </a:pPr>
            <a:r>
              <a:rPr lang="en-US" sz="1600" b="1" dirty="0">
                <a:solidFill>
                  <a:srgbClr val="203248"/>
                </a:solidFill>
                <a:latin typeface="Aptos" pitchFamily="34" charset="0"/>
                <a:ea typeface="Aptos" pitchFamily="34" charset="-122"/>
                <a:cs typeface="Aptos" pitchFamily="34" charset="-120"/>
              </a:rPr>
              <a:t>Timestamp checks</a:t>
            </a:r>
            <a:endParaRPr lang="en-US" sz="1600" dirty="0"/>
          </a:p>
        </p:txBody>
      </p:sp>
      <p:sp>
        <p:nvSpPr>
          <p:cNvPr id="11" name="Text 9"/>
          <p:cNvSpPr/>
          <p:nvPr/>
        </p:nvSpPr>
        <p:spPr>
          <a:xfrm>
            <a:off x="3986784" y="1463040"/>
            <a:ext cx="7132320" cy="356616"/>
          </a:xfrm>
          <a:prstGeom prst="rect">
            <a:avLst/>
          </a:prstGeom>
          <a:noFill/>
          <a:ln/>
        </p:spPr>
        <p:txBody>
          <a:bodyPr wrap="square" lIns="0" tIns="0" rIns="0" bIns="0" rtlCol="0" anchor="ctr">
            <a:normAutofit/>
          </a:bodyPr>
          <a:lstStyle/>
          <a:p>
            <a:pPr marL="0" indent="0" algn="l">
              <a:buNone/>
            </a:pPr>
            <a:r>
              <a:rPr lang="en-US" sz="1500" dirty="0">
                <a:solidFill>
                  <a:srgbClr val="203248"/>
                </a:solidFill>
                <a:latin typeface="Aptos" pitchFamily="34" charset="0"/>
                <a:ea typeface="Aptos" pitchFamily="34" charset="-122"/>
                <a:cs typeface="Aptos" pitchFamily="34" charset="-120"/>
              </a:rPr>
              <a:t>Sort records; check gaps and duplicates</a:t>
            </a:r>
            <a:endParaRPr lang="en-US" sz="1500" dirty="0"/>
          </a:p>
        </p:txBody>
      </p:sp>
      <p:sp>
        <p:nvSpPr>
          <p:cNvPr id="12" name="Shape 10"/>
          <p:cNvSpPr/>
          <p:nvPr/>
        </p:nvSpPr>
        <p:spPr>
          <a:xfrm>
            <a:off x="612648" y="2130552"/>
            <a:ext cx="10945368" cy="649224"/>
          </a:xfrm>
          <a:prstGeom prst="roundRect">
            <a:avLst>
              <a:gd name="adj" fmla="val 16901"/>
            </a:avLst>
          </a:prstGeom>
          <a:solidFill>
            <a:srgbClr val="EAF7F6"/>
          </a:solidFill>
          <a:ln w="12700">
            <a:solidFill>
              <a:srgbClr val="DCE5EC"/>
            </a:solidFill>
            <a:prstDash val="solid"/>
          </a:ln>
        </p:spPr>
        <p:txBody>
          <a:bodyPr/>
          <a:lstStyle/>
          <a:p>
            <a:endParaRPr lang="en-IN"/>
          </a:p>
        </p:txBody>
      </p:sp>
      <p:sp>
        <p:nvSpPr>
          <p:cNvPr id="13" name="Text 11"/>
          <p:cNvSpPr/>
          <p:nvPr/>
        </p:nvSpPr>
        <p:spPr>
          <a:xfrm>
            <a:off x="804672" y="2240280"/>
            <a:ext cx="502920" cy="320040"/>
          </a:xfrm>
          <a:prstGeom prst="rect">
            <a:avLst/>
          </a:prstGeom>
          <a:noFill/>
          <a:ln/>
        </p:spPr>
        <p:txBody>
          <a:bodyPr wrap="square" lIns="0" tIns="0" rIns="0" bIns="0" rtlCol="0" anchor="ctr">
            <a:normAutofit/>
          </a:bodyPr>
          <a:lstStyle/>
          <a:p>
            <a:pPr marL="0" indent="0" algn="l">
              <a:buNone/>
            </a:pPr>
            <a:r>
              <a:rPr lang="en-US" sz="1800" b="1" dirty="0">
                <a:solidFill>
                  <a:srgbClr val="147D92"/>
                </a:solidFill>
                <a:latin typeface="Aptos" pitchFamily="34" charset="0"/>
                <a:ea typeface="Aptos" pitchFamily="34" charset="-122"/>
                <a:cs typeface="Aptos" pitchFamily="34" charset="-120"/>
              </a:rPr>
              <a:t>02</a:t>
            </a:r>
            <a:endParaRPr lang="en-US" sz="1800" dirty="0"/>
          </a:p>
        </p:txBody>
      </p:sp>
      <p:sp>
        <p:nvSpPr>
          <p:cNvPr id="14" name="Text 12"/>
          <p:cNvSpPr/>
          <p:nvPr/>
        </p:nvSpPr>
        <p:spPr>
          <a:xfrm>
            <a:off x="1453896" y="2231136"/>
            <a:ext cx="2395728" cy="338328"/>
          </a:xfrm>
          <a:prstGeom prst="rect">
            <a:avLst/>
          </a:prstGeom>
          <a:noFill/>
          <a:ln/>
        </p:spPr>
        <p:txBody>
          <a:bodyPr wrap="square" lIns="0" tIns="0" rIns="0" bIns="0" rtlCol="0" anchor="ctr">
            <a:normAutofit/>
          </a:bodyPr>
          <a:lstStyle/>
          <a:p>
            <a:pPr marL="0" indent="0" algn="l">
              <a:buNone/>
            </a:pPr>
            <a:r>
              <a:rPr lang="en-US" sz="1600" b="1" dirty="0">
                <a:solidFill>
                  <a:srgbClr val="203248"/>
                </a:solidFill>
                <a:latin typeface="Aptos" pitchFamily="34" charset="0"/>
                <a:ea typeface="Aptos" pitchFamily="34" charset="-122"/>
                <a:cs typeface="Aptos" pitchFamily="34" charset="-120"/>
              </a:rPr>
              <a:t>Resample</a:t>
            </a:r>
            <a:endParaRPr lang="en-US" sz="1600" dirty="0"/>
          </a:p>
        </p:txBody>
      </p:sp>
      <p:sp>
        <p:nvSpPr>
          <p:cNvPr id="15" name="Text 13"/>
          <p:cNvSpPr/>
          <p:nvPr/>
        </p:nvSpPr>
        <p:spPr>
          <a:xfrm>
            <a:off x="3986784" y="2231136"/>
            <a:ext cx="7132320" cy="356616"/>
          </a:xfrm>
          <a:prstGeom prst="rect">
            <a:avLst/>
          </a:prstGeom>
          <a:noFill/>
          <a:ln/>
        </p:spPr>
        <p:txBody>
          <a:bodyPr wrap="square" lIns="0" tIns="0" rIns="0" bIns="0" rtlCol="0" anchor="ctr">
            <a:normAutofit/>
          </a:bodyPr>
          <a:lstStyle/>
          <a:p>
            <a:pPr marL="0" indent="0" algn="l">
              <a:buNone/>
            </a:pPr>
            <a:r>
              <a:rPr lang="en-US" sz="1500" dirty="0">
                <a:solidFill>
                  <a:srgbClr val="203248"/>
                </a:solidFill>
                <a:latin typeface="Aptos" pitchFamily="34" charset="0"/>
                <a:ea typeface="Aptos" pitchFamily="34" charset="-122"/>
                <a:cs typeface="Aptos" pitchFamily="34" charset="-120"/>
              </a:rPr>
              <a:t>10-second readings → 1-minute summaries</a:t>
            </a:r>
            <a:endParaRPr lang="en-US" sz="1500" dirty="0"/>
          </a:p>
        </p:txBody>
      </p:sp>
      <p:sp>
        <p:nvSpPr>
          <p:cNvPr id="16" name="Shape 14"/>
          <p:cNvSpPr/>
          <p:nvPr/>
        </p:nvSpPr>
        <p:spPr>
          <a:xfrm>
            <a:off x="612648" y="2898648"/>
            <a:ext cx="10945368" cy="649224"/>
          </a:xfrm>
          <a:prstGeom prst="roundRect">
            <a:avLst>
              <a:gd name="adj" fmla="val 16901"/>
            </a:avLst>
          </a:prstGeom>
          <a:solidFill>
            <a:srgbClr val="FFFFFF"/>
          </a:solidFill>
          <a:ln w="12700">
            <a:solidFill>
              <a:srgbClr val="DCE5EC"/>
            </a:solidFill>
            <a:prstDash val="solid"/>
          </a:ln>
        </p:spPr>
        <p:txBody>
          <a:bodyPr/>
          <a:lstStyle/>
          <a:p>
            <a:endParaRPr lang="en-IN"/>
          </a:p>
        </p:txBody>
      </p:sp>
      <p:sp>
        <p:nvSpPr>
          <p:cNvPr id="17" name="Text 15"/>
          <p:cNvSpPr/>
          <p:nvPr/>
        </p:nvSpPr>
        <p:spPr>
          <a:xfrm>
            <a:off x="804672" y="3008376"/>
            <a:ext cx="502920" cy="320040"/>
          </a:xfrm>
          <a:prstGeom prst="rect">
            <a:avLst/>
          </a:prstGeom>
          <a:noFill/>
          <a:ln/>
        </p:spPr>
        <p:txBody>
          <a:bodyPr wrap="square" lIns="0" tIns="0" rIns="0" bIns="0" rtlCol="0" anchor="ctr">
            <a:normAutofit/>
          </a:bodyPr>
          <a:lstStyle/>
          <a:p>
            <a:pPr marL="0" indent="0" algn="l">
              <a:buNone/>
            </a:pPr>
            <a:r>
              <a:rPr lang="en-US" sz="1800" b="1" dirty="0">
                <a:solidFill>
                  <a:srgbClr val="147D92"/>
                </a:solidFill>
                <a:latin typeface="Aptos" pitchFamily="34" charset="0"/>
                <a:ea typeface="Aptos" pitchFamily="34" charset="-122"/>
                <a:cs typeface="Aptos" pitchFamily="34" charset="-120"/>
              </a:rPr>
              <a:t>03</a:t>
            </a:r>
            <a:endParaRPr lang="en-US" sz="1800" dirty="0"/>
          </a:p>
        </p:txBody>
      </p:sp>
      <p:sp>
        <p:nvSpPr>
          <p:cNvPr id="18" name="Text 16"/>
          <p:cNvSpPr/>
          <p:nvPr/>
        </p:nvSpPr>
        <p:spPr>
          <a:xfrm>
            <a:off x="1453896" y="2999232"/>
            <a:ext cx="2395728" cy="338328"/>
          </a:xfrm>
          <a:prstGeom prst="rect">
            <a:avLst/>
          </a:prstGeom>
          <a:noFill/>
          <a:ln/>
        </p:spPr>
        <p:txBody>
          <a:bodyPr wrap="square" lIns="0" tIns="0" rIns="0" bIns="0" rtlCol="0" anchor="ctr">
            <a:normAutofit/>
          </a:bodyPr>
          <a:lstStyle/>
          <a:p>
            <a:pPr marL="0" indent="0" algn="l">
              <a:buNone/>
            </a:pPr>
            <a:r>
              <a:rPr lang="en-US" sz="1600" b="1" dirty="0">
                <a:solidFill>
                  <a:srgbClr val="203248"/>
                </a:solidFill>
                <a:latin typeface="Aptos" pitchFamily="34" charset="0"/>
                <a:ea typeface="Aptos" pitchFamily="34" charset="-122"/>
                <a:cs typeface="Aptos" pitchFamily="34" charset="-120"/>
              </a:rPr>
              <a:t>Reduce noise</a:t>
            </a:r>
            <a:endParaRPr lang="en-US" sz="1600" dirty="0"/>
          </a:p>
        </p:txBody>
      </p:sp>
      <p:sp>
        <p:nvSpPr>
          <p:cNvPr id="19" name="Text 17"/>
          <p:cNvSpPr/>
          <p:nvPr/>
        </p:nvSpPr>
        <p:spPr>
          <a:xfrm>
            <a:off x="3986784" y="2999232"/>
            <a:ext cx="7132320" cy="356616"/>
          </a:xfrm>
          <a:prstGeom prst="rect">
            <a:avLst/>
          </a:prstGeom>
          <a:noFill/>
          <a:ln/>
        </p:spPr>
        <p:txBody>
          <a:bodyPr wrap="square" lIns="0" tIns="0" rIns="0" bIns="0" rtlCol="0" anchor="ctr">
            <a:normAutofit/>
          </a:bodyPr>
          <a:lstStyle/>
          <a:p>
            <a:pPr marL="0" indent="0" algn="l">
              <a:buNone/>
            </a:pPr>
            <a:r>
              <a:rPr lang="en-US" sz="1500" dirty="0">
                <a:solidFill>
                  <a:srgbClr val="203248"/>
                </a:solidFill>
                <a:latin typeface="Aptos" pitchFamily="34" charset="0"/>
                <a:ea typeface="Aptos" pitchFamily="34" charset="-122"/>
                <a:cs typeface="Aptos" pitchFamily="34" charset="-120"/>
              </a:rPr>
              <a:t>5-point rolling average for numeric signals</a:t>
            </a:r>
            <a:endParaRPr lang="en-US" sz="1500" dirty="0"/>
          </a:p>
        </p:txBody>
      </p:sp>
      <p:sp>
        <p:nvSpPr>
          <p:cNvPr id="20" name="Shape 18"/>
          <p:cNvSpPr/>
          <p:nvPr/>
        </p:nvSpPr>
        <p:spPr>
          <a:xfrm>
            <a:off x="612648" y="3666744"/>
            <a:ext cx="10945368" cy="649224"/>
          </a:xfrm>
          <a:prstGeom prst="roundRect">
            <a:avLst>
              <a:gd name="adj" fmla="val 16901"/>
            </a:avLst>
          </a:prstGeom>
          <a:solidFill>
            <a:srgbClr val="EAF7F6"/>
          </a:solidFill>
          <a:ln w="12700">
            <a:solidFill>
              <a:srgbClr val="DCE5EC"/>
            </a:solidFill>
            <a:prstDash val="solid"/>
          </a:ln>
        </p:spPr>
        <p:txBody>
          <a:bodyPr/>
          <a:lstStyle/>
          <a:p>
            <a:endParaRPr lang="en-IN"/>
          </a:p>
        </p:txBody>
      </p:sp>
      <p:sp>
        <p:nvSpPr>
          <p:cNvPr id="21" name="Text 19"/>
          <p:cNvSpPr/>
          <p:nvPr/>
        </p:nvSpPr>
        <p:spPr>
          <a:xfrm>
            <a:off x="804672" y="3776472"/>
            <a:ext cx="502920" cy="320040"/>
          </a:xfrm>
          <a:prstGeom prst="rect">
            <a:avLst/>
          </a:prstGeom>
          <a:noFill/>
          <a:ln/>
        </p:spPr>
        <p:txBody>
          <a:bodyPr wrap="square" lIns="0" tIns="0" rIns="0" bIns="0" rtlCol="0" anchor="ctr">
            <a:normAutofit/>
          </a:bodyPr>
          <a:lstStyle/>
          <a:p>
            <a:pPr marL="0" indent="0" algn="l">
              <a:buNone/>
            </a:pPr>
            <a:r>
              <a:rPr lang="en-US" sz="1800" b="1" dirty="0">
                <a:solidFill>
                  <a:srgbClr val="147D92"/>
                </a:solidFill>
                <a:latin typeface="Aptos" pitchFamily="34" charset="0"/>
                <a:ea typeface="Aptos" pitchFamily="34" charset="-122"/>
                <a:cs typeface="Aptos" pitchFamily="34" charset="-120"/>
              </a:rPr>
              <a:t>04</a:t>
            </a:r>
            <a:endParaRPr lang="en-US" sz="1800" dirty="0"/>
          </a:p>
        </p:txBody>
      </p:sp>
      <p:sp>
        <p:nvSpPr>
          <p:cNvPr id="22" name="Text 20"/>
          <p:cNvSpPr/>
          <p:nvPr/>
        </p:nvSpPr>
        <p:spPr>
          <a:xfrm>
            <a:off x="1453896" y="3767328"/>
            <a:ext cx="2395728" cy="338328"/>
          </a:xfrm>
          <a:prstGeom prst="rect">
            <a:avLst/>
          </a:prstGeom>
          <a:noFill/>
          <a:ln/>
        </p:spPr>
        <p:txBody>
          <a:bodyPr wrap="square" lIns="0" tIns="0" rIns="0" bIns="0" rtlCol="0" anchor="ctr">
            <a:normAutofit/>
          </a:bodyPr>
          <a:lstStyle/>
          <a:p>
            <a:pPr marL="0" indent="0" algn="l">
              <a:buNone/>
            </a:pPr>
            <a:r>
              <a:rPr lang="en-US" sz="1600" b="1" dirty="0">
                <a:solidFill>
                  <a:srgbClr val="203248"/>
                </a:solidFill>
                <a:latin typeface="Aptos" pitchFamily="34" charset="0"/>
                <a:ea typeface="Aptos" pitchFamily="34" charset="-122"/>
                <a:cs typeface="Aptos" pitchFamily="34" charset="-120"/>
              </a:rPr>
              <a:t>Scale</a:t>
            </a:r>
            <a:endParaRPr lang="en-US" sz="1600" dirty="0"/>
          </a:p>
        </p:txBody>
      </p:sp>
      <p:sp>
        <p:nvSpPr>
          <p:cNvPr id="23" name="Text 21"/>
          <p:cNvSpPr/>
          <p:nvPr/>
        </p:nvSpPr>
        <p:spPr>
          <a:xfrm>
            <a:off x="3986784" y="3767328"/>
            <a:ext cx="7132320" cy="356616"/>
          </a:xfrm>
          <a:prstGeom prst="rect">
            <a:avLst/>
          </a:prstGeom>
          <a:noFill/>
          <a:ln/>
        </p:spPr>
        <p:txBody>
          <a:bodyPr wrap="square" lIns="0" tIns="0" rIns="0" bIns="0" rtlCol="0" anchor="ctr">
            <a:normAutofit/>
          </a:bodyPr>
          <a:lstStyle/>
          <a:p>
            <a:pPr marL="0" indent="0" algn="l">
              <a:buNone/>
            </a:pPr>
            <a:r>
              <a:rPr lang="en-US" sz="1500" dirty="0">
                <a:solidFill>
                  <a:srgbClr val="203248"/>
                </a:solidFill>
                <a:latin typeface="Aptos" pitchFamily="34" charset="0"/>
                <a:ea typeface="Aptos" pitchFamily="34" charset="-122"/>
                <a:cs typeface="Aptos" pitchFamily="34" charset="-120"/>
              </a:rPr>
              <a:t>Training-fit Z-score normalization</a:t>
            </a:r>
            <a:endParaRPr lang="en-US" sz="1500" dirty="0"/>
          </a:p>
        </p:txBody>
      </p:sp>
      <p:sp>
        <p:nvSpPr>
          <p:cNvPr id="24" name="Shape 22"/>
          <p:cNvSpPr/>
          <p:nvPr/>
        </p:nvSpPr>
        <p:spPr>
          <a:xfrm>
            <a:off x="612648" y="4434840"/>
            <a:ext cx="10945368" cy="649224"/>
          </a:xfrm>
          <a:prstGeom prst="roundRect">
            <a:avLst>
              <a:gd name="adj" fmla="val 16901"/>
            </a:avLst>
          </a:prstGeom>
          <a:solidFill>
            <a:srgbClr val="FFFFFF"/>
          </a:solidFill>
          <a:ln w="12700">
            <a:solidFill>
              <a:srgbClr val="DCE5EC"/>
            </a:solidFill>
            <a:prstDash val="solid"/>
          </a:ln>
        </p:spPr>
        <p:txBody>
          <a:bodyPr/>
          <a:lstStyle/>
          <a:p>
            <a:endParaRPr lang="en-IN"/>
          </a:p>
        </p:txBody>
      </p:sp>
      <p:sp>
        <p:nvSpPr>
          <p:cNvPr id="25" name="Text 23"/>
          <p:cNvSpPr/>
          <p:nvPr/>
        </p:nvSpPr>
        <p:spPr>
          <a:xfrm>
            <a:off x="804672" y="4544568"/>
            <a:ext cx="502920" cy="320040"/>
          </a:xfrm>
          <a:prstGeom prst="rect">
            <a:avLst/>
          </a:prstGeom>
          <a:noFill/>
          <a:ln/>
        </p:spPr>
        <p:txBody>
          <a:bodyPr wrap="square" lIns="0" tIns="0" rIns="0" bIns="0" rtlCol="0" anchor="ctr">
            <a:normAutofit/>
          </a:bodyPr>
          <a:lstStyle/>
          <a:p>
            <a:pPr marL="0" indent="0" algn="l">
              <a:buNone/>
            </a:pPr>
            <a:r>
              <a:rPr lang="en-US" sz="1800" b="1" dirty="0">
                <a:solidFill>
                  <a:srgbClr val="147D92"/>
                </a:solidFill>
                <a:latin typeface="Aptos" pitchFamily="34" charset="0"/>
                <a:ea typeface="Aptos" pitchFamily="34" charset="-122"/>
                <a:cs typeface="Aptos" pitchFamily="34" charset="-120"/>
              </a:rPr>
              <a:t>05</a:t>
            </a:r>
            <a:endParaRPr lang="en-US" sz="1800" dirty="0"/>
          </a:p>
        </p:txBody>
      </p:sp>
      <p:sp>
        <p:nvSpPr>
          <p:cNvPr id="26" name="Text 24"/>
          <p:cNvSpPr/>
          <p:nvPr/>
        </p:nvSpPr>
        <p:spPr>
          <a:xfrm>
            <a:off x="1453896" y="4535424"/>
            <a:ext cx="2395728" cy="338328"/>
          </a:xfrm>
          <a:prstGeom prst="rect">
            <a:avLst/>
          </a:prstGeom>
          <a:noFill/>
          <a:ln/>
        </p:spPr>
        <p:txBody>
          <a:bodyPr wrap="square" lIns="0" tIns="0" rIns="0" bIns="0" rtlCol="0" anchor="ctr">
            <a:normAutofit/>
          </a:bodyPr>
          <a:lstStyle/>
          <a:p>
            <a:pPr marL="0" indent="0" algn="l">
              <a:buNone/>
            </a:pPr>
            <a:r>
              <a:rPr lang="en-US" sz="1600" b="1" dirty="0">
                <a:solidFill>
                  <a:srgbClr val="203248"/>
                </a:solidFill>
                <a:latin typeface="Aptos" pitchFamily="34" charset="0"/>
                <a:ea typeface="Aptos" pitchFamily="34" charset="-122"/>
                <a:cs typeface="Aptos" pitchFamily="34" charset="-120"/>
              </a:rPr>
              <a:t>Sequence</a:t>
            </a:r>
            <a:endParaRPr lang="en-US" sz="1600" dirty="0"/>
          </a:p>
        </p:txBody>
      </p:sp>
      <p:sp>
        <p:nvSpPr>
          <p:cNvPr id="27" name="Text 25"/>
          <p:cNvSpPr/>
          <p:nvPr/>
        </p:nvSpPr>
        <p:spPr>
          <a:xfrm>
            <a:off x="3986784" y="4535424"/>
            <a:ext cx="7132320" cy="356616"/>
          </a:xfrm>
          <a:prstGeom prst="rect">
            <a:avLst/>
          </a:prstGeom>
          <a:noFill/>
          <a:ln/>
        </p:spPr>
        <p:txBody>
          <a:bodyPr wrap="square" lIns="0" tIns="0" rIns="0" bIns="0" rtlCol="0" anchor="ctr">
            <a:normAutofit/>
          </a:bodyPr>
          <a:lstStyle/>
          <a:p>
            <a:pPr marL="0" indent="0" algn="l">
              <a:buNone/>
            </a:pPr>
            <a:r>
              <a:rPr lang="en-US" sz="1500" dirty="0">
                <a:solidFill>
                  <a:srgbClr val="203248"/>
                </a:solidFill>
                <a:latin typeface="Aptos" pitchFamily="34" charset="0"/>
                <a:ea typeface="Aptos" pitchFamily="34" charset="-122"/>
                <a:cs typeface="Aptos" pitchFamily="34" charset="-120"/>
              </a:rPr>
              <a:t>60 time steps × 10 selected features</a:t>
            </a:r>
            <a:endParaRPr lang="en-US" sz="1500" dirty="0"/>
          </a:p>
        </p:txBody>
      </p:sp>
      <p:sp>
        <p:nvSpPr>
          <p:cNvPr id="28" name="Shape 26"/>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9" name="Text 27"/>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Chronological preprocessing preserves time patterns and reduces leakage.</a:t>
            </a:r>
            <a:endParaRPr lang="en-US" sz="1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NOSQL IMPLEMENTATION</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2: use MongoDB as the data backbone</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07</a:t>
            </a:r>
            <a:endParaRPr lang="en-US" sz="900" dirty="0"/>
          </a:p>
        </p:txBody>
      </p:sp>
      <p:sp>
        <p:nvSpPr>
          <p:cNvPr id="8" name="Shape 6"/>
          <p:cNvSpPr/>
          <p:nvPr/>
        </p:nvSpPr>
        <p:spPr>
          <a:xfrm>
            <a:off x="603504" y="1463040"/>
            <a:ext cx="5358384" cy="2331720"/>
          </a:xfrm>
          <a:prstGeom prst="roundRect">
            <a:avLst>
              <a:gd name="adj" fmla="val 4706"/>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03504" y="1463040"/>
            <a:ext cx="64008" cy="2331720"/>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813816" y="1618488"/>
            <a:ext cx="4946904"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Time-series storage</a:t>
            </a:r>
            <a:endParaRPr lang="en-US" sz="1600" dirty="0"/>
          </a:p>
        </p:txBody>
      </p:sp>
      <p:sp>
        <p:nvSpPr>
          <p:cNvPr id="11" name="Text 9"/>
          <p:cNvSpPr/>
          <p:nvPr/>
        </p:nvSpPr>
        <p:spPr>
          <a:xfrm>
            <a:off x="813816" y="2029968"/>
            <a:ext cx="4937760" cy="166420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Every reading is linked to a timestamp and asset ID. MongoDB stores flexible analog and digital sensor fields.</a:t>
            </a:r>
            <a:endParaRPr lang="en-US" sz="1340" dirty="0"/>
          </a:p>
        </p:txBody>
      </p:sp>
      <p:sp>
        <p:nvSpPr>
          <p:cNvPr id="12" name="Shape 10"/>
          <p:cNvSpPr/>
          <p:nvPr/>
        </p:nvSpPr>
        <p:spPr>
          <a:xfrm>
            <a:off x="6163056" y="1463040"/>
            <a:ext cx="5358384" cy="2331720"/>
          </a:xfrm>
          <a:prstGeom prst="roundRect">
            <a:avLst>
              <a:gd name="adj" fmla="val 4706"/>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163056" y="1463040"/>
            <a:ext cx="64008" cy="2331720"/>
          </a:xfrm>
          <a:prstGeom prst="rect">
            <a:avLst/>
          </a:prstGeom>
          <a:solidFill>
            <a:srgbClr val="12A39B"/>
          </a:solidFill>
          <a:ln w="12700">
            <a:solidFill>
              <a:srgbClr val="12A39B"/>
            </a:solidFill>
            <a:prstDash val="solid"/>
          </a:ln>
        </p:spPr>
        <p:txBody>
          <a:bodyPr/>
          <a:lstStyle/>
          <a:p>
            <a:endParaRPr lang="en-IN"/>
          </a:p>
        </p:txBody>
      </p:sp>
      <p:sp>
        <p:nvSpPr>
          <p:cNvPr id="14" name="Text 12"/>
          <p:cNvSpPr/>
          <p:nvPr/>
        </p:nvSpPr>
        <p:spPr>
          <a:xfrm>
            <a:off x="6373368" y="1618488"/>
            <a:ext cx="4946904"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Aggregation pipelines</a:t>
            </a:r>
            <a:endParaRPr lang="en-US" sz="1600" dirty="0"/>
          </a:p>
        </p:txBody>
      </p:sp>
      <p:sp>
        <p:nvSpPr>
          <p:cNvPr id="15" name="Text 13"/>
          <p:cNvSpPr/>
          <p:nvPr/>
        </p:nvSpPr>
        <p:spPr>
          <a:xfrm>
            <a:off x="6373368" y="2029968"/>
            <a:ext cx="4937760" cy="166420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Operations such as $match, $group, $project and conditional scoring summarize sensor state and compute DAHI.</a:t>
            </a:r>
            <a:endParaRPr lang="en-US" sz="1340" dirty="0"/>
          </a:p>
        </p:txBody>
      </p:sp>
      <p:sp>
        <p:nvSpPr>
          <p:cNvPr id="16" name="Shape 14"/>
          <p:cNvSpPr/>
          <p:nvPr/>
        </p:nvSpPr>
        <p:spPr>
          <a:xfrm>
            <a:off x="1024128" y="4105656"/>
            <a:ext cx="10186416" cy="960120"/>
          </a:xfrm>
          <a:prstGeom prst="roundRect">
            <a:avLst>
              <a:gd name="adj" fmla="val 11429"/>
            </a:avLst>
          </a:prstGeom>
          <a:solidFill>
            <a:srgbClr val="102A43"/>
          </a:solidFill>
          <a:ln w="12700">
            <a:solidFill>
              <a:srgbClr val="102A43"/>
            </a:solidFill>
            <a:prstDash val="solid"/>
          </a:ln>
        </p:spPr>
        <p:txBody>
          <a:bodyPr/>
          <a:lstStyle/>
          <a:p>
            <a:endParaRPr lang="en-IN"/>
          </a:p>
        </p:txBody>
      </p:sp>
      <p:sp>
        <p:nvSpPr>
          <p:cNvPr id="17" name="Text 15"/>
          <p:cNvSpPr/>
          <p:nvPr/>
        </p:nvSpPr>
        <p:spPr>
          <a:xfrm>
            <a:off x="1307592" y="4370832"/>
            <a:ext cx="9601200" cy="438912"/>
          </a:xfrm>
          <a:prstGeom prst="rect">
            <a:avLst/>
          </a:prstGeom>
          <a:noFill/>
          <a:ln/>
        </p:spPr>
        <p:txBody>
          <a:bodyPr wrap="square" lIns="0" tIns="0" rIns="0" bIns="0" rtlCol="0" anchor="ctr">
            <a:normAutofit/>
          </a:bodyPr>
          <a:lstStyle/>
          <a:p>
            <a:pPr marL="0" indent="0" algn="ctr">
              <a:buNone/>
            </a:pPr>
            <a:r>
              <a:rPr lang="en-US" sz="1720" b="1" dirty="0">
                <a:solidFill>
                  <a:srgbClr val="FFFFFF"/>
                </a:solidFill>
                <a:latin typeface="Aptos" pitchFamily="34" charset="0"/>
                <a:ea typeface="Aptos" pitchFamily="34" charset="-122"/>
                <a:cs typeface="Aptos" pitchFamily="34" charset="-120"/>
              </a:rPr>
              <a:t>Sensor document → Filter time/asset → Compute sensor health → Weighted DAHI output</a:t>
            </a:r>
            <a:endParaRPr lang="en-US" sz="1720" dirty="0"/>
          </a:p>
        </p:txBody>
      </p:sp>
      <p:sp>
        <p:nvSpPr>
          <p:cNvPr id="18" name="Shape 16"/>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19" name="Text 17"/>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MongoDB is used for analytics, not only storing records.</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MODEL</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3: train the LSTM Autoencoder</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08</a:t>
            </a:r>
            <a:endParaRPr lang="en-US" sz="900" dirty="0"/>
          </a:p>
        </p:txBody>
      </p:sp>
      <p:sp>
        <p:nvSpPr>
          <p:cNvPr id="8" name="Shape 6"/>
          <p:cNvSpPr/>
          <p:nvPr/>
        </p:nvSpPr>
        <p:spPr>
          <a:xfrm>
            <a:off x="658368" y="1874520"/>
            <a:ext cx="1947672" cy="1527048"/>
          </a:xfrm>
          <a:prstGeom prst="roundRect">
            <a:avLst>
              <a:gd name="adj" fmla="val 7186"/>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795528" y="2167128"/>
            <a:ext cx="1682496" cy="338328"/>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Input</a:t>
            </a:r>
            <a:endParaRPr lang="en-US" sz="1700" dirty="0"/>
          </a:p>
        </p:txBody>
      </p:sp>
      <p:sp>
        <p:nvSpPr>
          <p:cNvPr id="10" name="Text 8"/>
          <p:cNvSpPr/>
          <p:nvPr/>
        </p:nvSpPr>
        <p:spPr>
          <a:xfrm>
            <a:off x="758952" y="2688336"/>
            <a:ext cx="1755648" cy="329184"/>
          </a:xfrm>
          <a:prstGeom prst="rect">
            <a:avLst/>
          </a:prstGeom>
          <a:noFill/>
          <a:ln/>
        </p:spPr>
        <p:txBody>
          <a:bodyPr wrap="square" lIns="0" tIns="0" rIns="0" bIns="0" rtlCol="0" anchor="ctr">
            <a:normAutofit/>
          </a:bodyPr>
          <a:lstStyle/>
          <a:p>
            <a:pPr marL="0" indent="0" algn="ctr">
              <a:buNone/>
            </a:pPr>
            <a:r>
              <a:rPr lang="en-US" sz="1400" dirty="0">
                <a:solidFill>
                  <a:srgbClr val="147D92"/>
                </a:solidFill>
                <a:latin typeface="Aptos" pitchFamily="34" charset="0"/>
                <a:ea typeface="Aptos" pitchFamily="34" charset="-122"/>
                <a:cs typeface="Aptos" pitchFamily="34" charset="-120"/>
              </a:rPr>
              <a:t>60 × 10</a:t>
            </a:r>
            <a:endParaRPr lang="en-US" sz="1400" dirty="0"/>
          </a:p>
        </p:txBody>
      </p:sp>
      <p:sp>
        <p:nvSpPr>
          <p:cNvPr id="11" name="Shape 9"/>
          <p:cNvSpPr/>
          <p:nvPr/>
        </p:nvSpPr>
        <p:spPr>
          <a:xfrm>
            <a:off x="2679192" y="2459736"/>
            <a:ext cx="201168" cy="347472"/>
          </a:xfrm>
          <a:prstGeom prst="chevron">
            <a:avLst/>
          </a:prstGeom>
          <a:solidFill>
            <a:srgbClr val="12A39B"/>
          </a:solidFill>
          <a:ln w="12700">
            <a:solidFill>
              <a:srgbClr val="12A39B"/>
            </a:solidFill>
            <a:prstDash val="solid"/>
          </a:ln>
        </p:spPr>
        <p:txBody>
          <a:bodyPr/>
          <a:lstStyle/>
          <a:p>
            <a:endParaRPr lang="en-IN"/>
          </a:p>
        </p:txBody>
      </p:sp>
      <p:sp>
        <p:nvSpPr>
          <p:cNvPr id="12" name="Shape 10"/>
          <p:cNvSpPr/>
          <p:nvPr/>
        </p:nvSpPr>
        <p:spPr>
          <a:xfrm>
            <a:off x="2990088" y="1874520"/>
            <a:ext cx="1947672" cy="1527048"/>
          </a:xfrm>
          <a:prstGeom prst="roundRect">
            <a:avLst>
              <a:gd name="adj" fmla="val 7186"/>
            </a:avLst>
          </a:prstGeom>
          <a:solidFill>
            <a:srgbClr val="FFFFFF"/>
          </a:solidFill>
          <a:ln w="12700">
            <a:solidFill>
              <a:srgbClr val="DCE5EC"/>
            </a:solidFill>
            <a:prstDash val="solid"/>
          </a:ln>
        </p:spPr>
        <p:txBody>
          <a:bodyPr/>
          <a:lstStyle/>
          <a:p>
            <a:endParaRPr lang="en-IN"/>
          </a:p>
        </p:txBody>
      </p:sp>
      <p:sp>
        <p:nvSpPr>
          <p:cNvPr id="13" name="Text 11"/>
          <p:cNvSpPr/>
          <p:nvPr/>
        </p:nvSpPr>
        <p:spPr>
          <a:xfrm>
            <a:off x="3127248" y="2167128"/>
            <a:ext cx="1682496" cy="338328"/>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Encoder</a:t>
            </a:r>
            <a:endParaRPr lang="en-US" sz="1700" dirty="0"/>
          </a:p>
        </p:txBody>
      </p:sp>
      <p:sp>
        <p:nvSpPr>
          <p:cNvPr id="14" name="Text 12"/>
          <p:cNvSpPr/>
          <p:nvPr/>
        </p:nvSpPr>
        <p:spPr>
          <a:xfrm>
            <a:off x="3090672" y="2688336"/>
            <a:ext cx="1755648" cy="329184"/>
          </a:xfrm>
          <a:prstGeom prst="rect">
            <a:avLst/>
          </a:prstGeom>
          <a:noFill/>
          <a:ln/>
        </p:spPr>
        <p:txBody>
          <a:bodyPr wrap="square" lIns="0" tIns="0" rIns="0" bIns="0" rtlCol="0" anchor="ctr">
            <a:normAutofit/>
          </a:bodyPr>
          <a:lstStyle/>
          <a:p>
            <a:pPr marL="0" indent="0" algn="ctr">
              <a:buNone/>
            </a:pPr>
            <a:r>
              <a:rPr lang="en-US" sz="1400" dirty="0">
                <a:solidFill>
                  <a:srgbClr val="147D92"/>
                </a:solidFill>
                <a:latin typeface="Aptos" pitchFamily="34" charset="0"/>
                <a:ea typeface="Aptos" pitchFamily="34" charset="-122"/>
                <a:cs typeface="Aptos" pitchFamily="34" charset="-120"/>
              </a:rPr>
              <a:t>LSTM 64 → 32</a:t>
            </a:r>
            <a:endParaRPr lang="en-US" sz="1400" dirty="0"/>
          </a:p>
        </p:txBody>
      </p:sp>
      <p:sp>
        <p:nvSpPr>
          <p:cNvPr id="15" name="Shape 13"/>
          <p:cNvSpPr/>
          <p:nvPr/>
        </p:nvSpPr>
        <p:spPr>
          <a:xfrm>
            <a:off x="5010912" y="2459736"/>
            <a:ext cx="201168" cy="347472"/>
          </a:xfrm>
          <a:prstGeom prst="chevron">
            <a:avLst/>
          </a:prstGeom>
          <a:solidFill>
            <a:srgbClr val="12A39B"/>
          </a:solidFill>
          <a:ln w="12700">
            <a:solidFill>
              <a:srgbClr val="12A39B"/>
            </a:solidFill>
            <a:prstDash val="solid"/>
          </a:ln>
        </p:spPr>
        <p:txBody>
          <a:bodyPr/>
          <a:lstStyle/>
          <a:p>
            <a:endParaRPr lang="en-IN"/>
          </a:p>
        </p:txBody>
      </p:sp>
      <p:sp>
        <p:nvSpPr>
          <p:cNvPr id="16" name="Shape 14"/>
          <p:cNvSpPr/>
          <p:nvPr/>
        </p:nvSpPr>
        <p:spPr>
          <a:xfrm>
            <a:off x="5321808" y="1874520"/>
            <a:ext cx="1947672" cy="1527048"/>
          </a:xfrm>
          <a:prstGeom prst="roundRect">
            <a:avLst>
              <a:gd name="adj" fmla="val 7186"/>
            </a:avLst>
          </a:prstGeom>
          <a:solidFill>
            <a:srgbClr val="DDF5EE"/>
          </a:solidFill>
          <a:ln w="12700">
            <a:solidFill>
              <a:srgbClr val="DCE5EC"/>
            </a:solidFill>
            <a:prstDash val="solid"/>
          </a:ln>
        </p:spPr>
        <p:txBody>
          <a:bodyPr/>
          <a:lstStyle/>
          <a:p>
            <a:endParaRPr lang="en-IN"/>
          </a:p>
        </p:txBody>
      </p:sp>
      <p:sp>
        <p:nvSpPr>
          <p:cNvPr id="17" name="Text 15"/>
          <p:cNvSpPr/>
          <p:nvPr/>
        </p:nvSpPr>
        <p:spPr>
          <a:xfrm>
            <a:off x="5458968" y="2167128"/>
            <a:ext cx="1682496" cy="338328"/>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Latent</a:t>
            </a:r>
            <a:endParaRPr lang="en-US" sz="1700" dirty="0"/>
          </a:p>
        </p:txBody>
      </p:sp>
      <p:sp>
        <p:nvSpPr>
          <p:cNvPr id="18" name="Text 16"/>
          <p:cNvSpPr/>
          <p:nvPr/>
        </p:nvSpPr>
        <p:spPr>
          <a:xfrm>
            <a:off x="5422392" y="2688336"/>
            <a:ext cx="1755648" cy="329184"/>
          </a:xfrm>
          <a:prstGeom prst="rect">
            <a:avLst/>
          </a:prstGeom>
          <a:noFill/>
          <a:ln/>
        </p:spPr>
        <p:txBody>
          <a:bodyPr wrap="square" lIns="0" tIns="0" rIns="0" bIns="0" rtlCol="0" anchor="ctr">
            <a:normAutofit/>
          </a:bodyPr>
          <a:lstStyle/>
          <a:p>
            <a:pPr marL="0" indent="0" algn="ctr">
              <a:buNone/>
            </a:pPr>
            <a:r>
              <a:rPr lang="en-US" sz="1400" dirty="0">
                <a:solidFill>
                  <a:srgbClr val="147D92"/>
                </a:solidFill>
                <a:latin typeface="Aptos" pitchFamily="34" charset="0"/>
                <a:ea typeface="Aptos" pitchFamily="34" charset="-122"/>
                <a:cs typeface="Aptos" pitchFamily="34" charset="-120"/>
              </a:rPr>
              <a:t>16 units</a:t>
            </a:r>
            <a:endParaRPr lang="en-US" sz="1400" dirty="0"/>
          </a:p>
        </p:txBody>
      </p:sp>
      <p:sp>
        <p:nvSpPr>
          <p:cNvPr id="19" name="Shape 17"/>
          <p:cNvSpPr/>
          <p:nvPr/>
        </p:nvSpPr>
        <p:spPr>
          <a:xfrm>
            <a:off x="7342632" y="2459736"/>
            <a:ext cx="201168" cy="347472"/>
          </a:xfrm>
          <a:prstGeom prst="chevron">
            <a:avLst/>
          </a:prstGeom>
          <a:solidFill>
            <a:srgbClr val="12A39B"/>
          </a:solidFill>
          <a:ln w="12700">
            <a:solidFill>
              <a:srgbClr val="12A39B"/>
            </a:solidFill>
            <a:prstDash val="solid"/>
          </a:ln>
        </p:spPr>
        <p:txBody>
          <a:bodyPr/>
          <a:lstStyle/>
          <a:p>
            <a:endParaRPr lang="en-IN"/>
          </a:p>
        </p:txBody>
      </p:sp>
      <p:sp>
        <p:nvSpPr>
          <p:cNvPr id="20" name="Shape 18"/>
          <p:cNvSpPr/>
          <p:nvPr/>
        </p:nvSpPr>
        <p:spPr>
          <a:xfrm>
            <a:off x="7653528" y="1874520"/>
            <a:ext cx="1947672" cy="1527048"/>
          </a:xfrm>
          <a:prstGeom prst="roundRect">
            <a:avLst>
              <a:gd name="adj" fmla="val 7186"/>
            </a:avLst>
          </a:prstGeom>
          <a:solidFill>
            <a:srgbClr val="FFFFFF"/>
          </a:solidFill>
          <a:ln w="12700">
            <a:solidFill>
              <a:srgbClr val="DCE5EC"/>
            </a:solidFill>
            <a:prstDash val="solid"/>
          </a:ln>
        </p:spPr>
        <p:txBody>
          <a:bodyPr/>
          <a:lstStyle/>
          <a:p>
            <a:endParaRPr lang="en-IN"/>
          </a:p>
        </p:txBody>
      </p:sp>
      <p:sp>
        <p:nvSpPr>
          <p:cNvPr id="21" name="Text 19"/>
          <p:cNvSpPr/>
          <p:nvPr/>
        </p:nvSpPr>
        <p:spPr>
          <a:xfrm>
            <a:off x="7790688" y="2167128"/>
            <a:ext cx="1682496" cy="338328"/>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Decoder</a:t>
            </a:r>
            <a:endParaRPr lang="en-US" sz="1700" dirty="0"/>
          </a:p>
        </p:txBody>
      </p:sp>
      <p:sp>
        <p:nvSpPr>
          <p:cNvPr id="22" name="Text 20"/>
          <p:cNvSpPr/>
          <p:nvPr/>
        </p:nvSpPr>
        <p:spPr>
          <a:xfrm>
            <a:off x="7754112" y="2688336"/>
            <a:ext cx="1755648" cy="329184"/>
          </a:xfrm>
          <a:prstGeom prst="rect">
            <a:avLst/>
          </a:prstGeom>
          <a:noFill/>
          <a:ln/>
        </p:spPr>
        <p:txBody>
          <a:bodyPr wrap="square" lIns="0" tIns="0" rIns="0" bIns="0" rtlCol="0" anchor="ctr">
            <a:normAutofit/>
          </a:bodyPr>
          <a:lstStyle/>
          <a:p>
            <a:pPr marL="0" indent="0" algn="ctr">
              <a:buNone/>
            </a:pPr>
            <a:r>
              <a:rPr lang="en-US" sz="1400" dirty="0">
                <a:solidFill>
                  <a:srgbClr val="147D92"/>
                </a:solidFill>
                <a:latin typeface="Aptos" pitchFamily="34" charset="0"/>
                <a:ea typeface="Aptos" pitchFamily="34" charset="-122"/>
                <a:cs typeface="Aptos" pitchFamily="34" charset="-120"/>
              </a:rPr>
              <a:t>LSTM 32 → 64</a:t>
            </a:r>
            <a:endParaRPr lang="en-US" sz="1400" dirty="0"/>
          </a:p>
        </p:txBody>
      </p:sp>
      <p:sp>
        <p:nvSpPr>
          <p:cNvPr id="23" name="Shape 21"/>
          <p:cNvSpPr/>
          <p:nvPr/>
        </p:nvSpPr>
        <p:spPr>
          <a:xfrm>
            <a:off x="9674352" y="2459736"/>
            <a:ext cx="201168" cy="347472"/>
          </a:xfrm>
          <a:prstGeom prst="chevron">
            <a:avLst/>
          </a:prstGeom>
          <a:solidFill>
            <a:srgbClr val="12A39B"/>
          </a:solidFill>
          <a:ln w="12700">
            <a:solidFill>
              <a:srgbClr val="12A39B"/>
            </a:solidFill>
            <a:prstDash val="solid"/>
          </a:ln>
        </p:spPr>
        <p:txBody>
          <a:bodyPr/>
          <a:lstStyle/>
          <a:p>
            <a:endParaRPr lang="en-IN"/>
          </a:p>
        </p:txBody>
      </p:sp>
      <p:sp>
        <p:nvSpPr>
          <p:cNvPr id="24" name="Shape 22"/>
          <p:cNvSpPr/>
          <p:nvPr/>
        </p:nvSpPr>
        <p:spPr>
          <a:xfrm>
            <a:off x="9985248" y="1874520"/>
            <a:ext cx="1947672" cy="1527048"/>
          </a:xfrm>
          <a:prstGeom prst="roundRect">
            <a:avLst>
              <a:gd name="adj" fmla="val 7186"/>
            </a:avLst>
          </a:prstGeom>
          <a:solidFill>
            <a:srgbClr val="FFFFFF"/>
          </a:solidFill>
          <a:ln w="12700">
            <a:solidFill>
              <a:srgbClr val="DCE5EC"/>
            </a:solidFill>
            <a:prstDash val="solid"/>
          </a:ln>
        </p:spPr>
        <p:txBody>
          <a:bodyPr/>
          <a:lstStyle/>
          <a:p>
            <a:endParaRPr lang="en-IN"/>
          </a:p>
        </p:txBody>
      </p:sp>
      <p:sp>
        <p:nvSpPr>
          <p:cNvPr id="25" name="Text 23"/>
          <p:cNvSpPr/>
          <p:nvPr/>
        </p:nvSpPr>
        <p:spPr>
          <a:xfrm>
            <a:off x="10122408" y="2167128"/>
            <a:ext cx="1682496" cy="338328"/>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Output</a:t>
            </a:r>
            <a:endParaRPr lang="en-US" sz="1700" dirty="0"/>
          </a:p>
        </p:txBody>
      </p:sp>
      <p:sp>
        <p:nvSpPr>
          <p:cNvPr id="26" name="Text 24"/>
          <p:cNvSpPr/>
          <p:nvPr/>
        </p:nvSpPr>
        <p:spPr>
          <a:xfrm>
            <a:off x="10085832" y="2688336"/>
            <a:ext cx="1755648" cy="329184"/>
          </a:xfrm>
          <a:prstGeom prst="rect">
            <a:avLst/>
          </a:prstGeom>
          <a:noFill/>
          <a:ln/>
        </p:spPr>
        <p:txBody>
          <a:bodyPr wrap="square" lIns="0" tIns="0" rIns="0" bIns="0" rtlCol="0" anchor="ctr">
            <a:normAutofit/>
          </a:bodyPr>
          <a:lstStyle/>
          <a:p>
            <a:pPr marL="0" indent="0" algn="ctr">
              <a:buNone/>
            </a:pPr>
            <a:r>
              <a:rPr lang="en-US" sz="1400" dirty="0">
                <a:solidFill>
                  <a:srgbClr val="147D92"/>
                </a:solidFill>
                <a:latin typeface="Aptos" pitchFamily="34" charset="0"/>
                <a:ea typeface="Aptos" pitchFamily="34" charset="-122"/>
                <a:cs typeface="Aptos" pitchFamily="34" charset="-120"/>
              </a:rPr>
              <a:t>Reconstructed</a:t>
            </a:r>
            <a:endParaRPr lang="en-US" sz="1400" dirty="0"/>
          </a:p>
        </p:txBody>
      </p:sp>
      <p:sp>
        <p:nvSpPr>
          <p:cNvPr id="27" name="Shape 25"/>
          <p:cNvSpPr/>
          <p:nvPr/>
        </p:nvSpPr>
        <p:spPr>
          <a:xfrm>
            <a:off x="804672" y="3822192"/>
            <a:ext cx="10533888" cy="1252728"/>
          </a:xfrm>
          <a:prstGeom prst="roundRect">
            <a:avLst>
              <a:gd name="adj" fmla="val 8759"/>
            </a:avLst>
          </a:prstGeom>
          <a:solidFill>
            <a:srgbClr val="FFFFFF"/>
          </a:solidFill>
          <a:ln w="12700">
            <a:solidFill>
              <a:srgbClr val="DCE5EC"/>
            </a:solidFill>
            <a:prstDash val="solid"/>
          </a:ln>
        </p:spPr>
        <p:txBody>
          <a:bodyPr/>
          <a:lstStyle/>
          <a:p>
            <a:endParaRPr lang="en-IN"/>
          </a:p>
        </p:txBody>
      </p:sp>
      <p:sp>
        <p:nvSpPr>
          <p:cNvPr id="28" name="Shape 26"/>
          <p:cNvSpPr/>
          <p:nvPr/>
        </p:nvSpPr>
        <p:spPr>
          <a:xfrm>
            <a:off x="804672" y="3822192"/>
            <a:ext cx="64008" cy="1252728"/>
          </a:xfrm>
          <a:prstGeom prst="rect">
            <a:avLst/>
          </a:prstGeom>
          <a:solidFill>
            <a:srgbClr val="147D92"/>
          </a:solidFill>
          <a:ln w="12700">
            <a:solidFill>
              <a:srgbClr val="147D92"/>
            </a:solidFill>
            <a:prstDash val="solid"/>
          </a:ln>
        </p:spPr>
        <p:txBody>
          <a:bodyPr/>
          <a:lstStyle/>
          <a:p>
            <a:endParaRPr lang="en-IN"/>
          </a:p>
        </p:txBody>
      </p:sp>
      <p:sp>
        <p:nvSpPr>
          <p:cNvPr id="29" name="Text 27"/>
          <p:cNvSpPr/>
          <p:nvPr/>
        </p:nvSpPr>
        <p:spPr>
          <a:xfrm>
            <a:off x="1014984" y="3977640"/>
            <a:ext cx="10122408"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Learning principle</a:t>
            </a:r>
            <a:endParaRPr lang="en-US" sz="1600" dirty="0"/>
          </a:p>
        </p:txBody>
      </p:sp>
      <p:sp>
        <p:nvSpPr>
          <p:cNvPr id="30" name="Text 28"/>
          <p:cNvSpPr/>
          <p:nvPr/>
        </p:nvSpPr>
        <p:spPr>
          <a:xfrm>
            <a:off x="1014984" y="4389120"/>
            <a:ext cx="10113264" cy="58521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Train on normal sequences. Large differences between input and reconstructed output signal unfamiliar behaviour.</a:t>
            </a:r>
            <a:endParaRPr lang="en-US" sz="1340" dirty="0"/>
          </a:p>
        </p:txBody>
      </p:sp>
      <p:sp>
        <p:nvSpPr>
          <p:cNvPr id="31" name="Shape 29"/>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32" name="Text 30"/>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Reconstruction error is an anomaly indicator, not a failure probability.</a:t>
            </a:r>
            <a:endParaRPr lang="en-US" sz="12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ANOMALY LOGIC</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4: classify anomalies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09</a:t>
            </a:r>
            <a:endParaRPr lang="en-US" sz="900" dirty="0"/>
          </a:p>
        </p:txBody>
      </p:sp>
      <p:sp>
        <p:nvSpPr>
          <p:cNvPr id="8" name="Shape 6"/>
          <p:cNvSpPr/>
          <p:nvPr/>
        </p:nvSpPr>
        <p:spPr>
          <a:xfrm>
            <a:off x="777240" y="1517904"/>
            <a:ext cx="10561320" cy="1024128"/>
          </a:xfrm>
          <a:prstGeom prst="roundRect">
            <a:avLst>
              <a:gd name="adj" fmla="val 10714"/>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1124712" y="1746504"/>
            <a:ext cx="9875520" cy="484632"/>
          </a:xfrm>
          <a:prstGeom prst="rect">
            <a:avLst/>
          </a:prstGeom>
          <a:noFill/>
          <a:ln/>
        </p:spPr>
        <p:txBody>
          <a:bodyPr wrap="square" lIns="0" tIns="0" rIns="0" bIns="0" rtlCol="0" anchor="ctr">
            <a:normAutofit/>
          </a:bodyPr>
          <a:lstStyle/>
          <a:p>
            <a:pPr marL="0" indent="0" algn="ctr">
              <a:buNone/>
            </a:pPr>
            <a:r>
              <a:rPr lang="en-US" sz="1900" b="1" dirty="0">
                <a:solidFill>
                  <a:srgbClr val="102A43"/>
                </a:solidFill>
                <a:latin typeface="Aptos" pitchFamily="34" charset="0"/>
                <a:ea typeface="Aptos" pitchFamily="34" charset="-122"/>
                <a:cs typeface="Aptos" pitchFamily="34" charset="-120"/>
              </a:rPr>
              <a:t>Reconstruction error = mean squared difference between input and reconstructed sequence</a:t>
            </a:r>
            <a:endParaRPr lang="en-US" sz="1900" dirty="0"/>
          </a:p>
        </p:txBody>
      </p:sp>
      <p:sp>
        <p:nvSpPr>
          <p:cNvPr id="10" name="Shape 8"/>
          <p:cNvSpPr/>
          <p:nvPr/>
        </p:nvSpPr>
        <p:spPr>
          <a:xfrm>
            <a:off x="1115568" y="3063240"/>
            <a:ext cx="4169664" cy="429768"/>
          </a:xfrm>
          <a:prstGeom prst="roundRect">
            <a:avLst>
              <a:gd name="adj" fmla="val 25532"/>
            </a:avLst>
          </a:prstGeom>
          <a:solidFill>
            <a:srgbClr val="2F9874"/>
          </a:solidFill>
          <a:ln w="12700">
            <a:solidFill>
              <a:srgbClr val="2F9874"/>
            </a:solidFill>
            <a:prstDash val="solid"/>
          </a:ln>
        </p:spPr>
        <p:txBody>
          <a:bodyPr/>
          <a:lstStyle/>
          <a:p>
            <a:endParaRPr lang="en-IN"/>
          </a:p>
        </p:txBody>
      </p:sp>
      <p:sp>
        <p:nvSpPr>
          <p:cNvPr id="11" name="Text 9"/>
          <p:cNvSpPr/>
          <p:nvPr/>
        </p:nvSpPr>
        <p:spPr>
          <a:xfrm>
            <a:off x="1197864" y="3136392"/>
            <a:ext cx="4005072"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Below threshold = normal</a:t>
            </a:r>
            <a:endParaRPr lang="en-US" sz="1200" dirty="0"/>
          </a:p>
        </p:txBody>
      </p:sp>
      <p:sp>
        <p:nvSpPr>
          <p:cNvPr id="12" name="Shape 10"/>
          <p:cNvSpPr/>
          <p:nvPr/>
        </p:nvSpPr>
        <p:spPr>
          <a:xfrm>
            <a:off x="6830568" y="3063240"/>
            <a:ext cx="4169664" cy="429768"/>
          </a:xfrm>
          <a:prstGeom prst="roundRect">
            <a:avLst>
              <a:gd name="adj" fmla="val 25532"/>
            </a:avLst>
          </a:prstGeom>
          <a:solidFill>
            <a:srgbClr val="C84F5F"/>
          </a:solidFill>
          <a:ln w="12700">
            <a:solidFill>
              <a:srgbClr val="C84F5F"/>
            </a:solidFill>
            <a:prstDash val="solid"/>
          </a:ln>
        </p:spPr>
        <p:txBody>
          <a:bodyPr/>
          <a:lstStyle/>
          <a:p>
            <a:endParaRPr lang="en-IN"/>
          </a:p>
        </p:txBody>
      </p:sp>
      <p:sp>
        <p:nvSpPr>
          <p:cNvPr id="13" name="Text 11"/>
          <p:cNvSpPr/>
          <p:nvPr/>
        </p:nvSpPr>
        <p:spPr>
          <a:xfrm>
            <a:off x="6912864" y="3136392"/>
            <a:ext cx="4005072"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Above threshold = anomaly</a:t>
            </a:r>
            <a:endParaRPr lang="en-US" sz="1200" dirty="0"/>
          </a:p>
        </p:txBody>
      </p:sp>
      <p:sp>
        <p:nvSpPr>
          <p:cNvPr id="14" name="Text 12"/>
          <p:cNvSpPr/>
          <p:nvPr/>
        </p:nvSpPr>
        <p:spPr>
          <a:xfrm>
            <a:off x="1874520" y="3995928"/>
            <a:ext cx="8476488" cy="566928"/>
          </a:xfrm>
          <a:prstGeom prst="rect">
            <a:avLst/>
          </a:prstGeom>
          <a:noFill/>
          <a:ln/>
        </p:spPr>
        <p:txBody>
          <a:bodyPr wrap="square" lIns="0" tIns="0" rIns="0" bIns="0" rtlCol="0" anchor="ctr">
            <a:normAutofit/>
          </a:bodyPr>
          <a:lstStyle/>
          <a:p>
            <a:pPr marL="0" indent="0" algn="ctr">
              <a:buNone/>
            </a:pPr>
            <a:r>
              <a:rPr lang="en-US" sz="2000" b="1" dirty="0">
                <a:solidFill>
                  <a:srgbClr val="102A43"/>
                </a:solidFill>
                <a:latin typeface="Aptos" pitchFamily="34" charset="0"/>
                <a:ea typeface="Aptos" pitchFamily="34" charset="-122"/>
                <a:cs typeface="Aptos" pitchFamily="34" charset="-120"/>
              </a:rPr>
              <a:t>Threshold: 95th percentile of training reconstruction errors</a:t>
            </a:r>
            <a:endParaRPr lang="en-US" sz="2000" dirty="0"/>
          </a:p>
        </p:txBody>
      </p:sp>
      <p:sp>
        <p:nvSpPr>
          <p:cNvPr id="15" name="Shape 13"/>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16" name="Text 14"/>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A detected anomaly triggers the health-and-decision workflow.</a:t>
            </a:r>
            <a:endParaRPr lang="en-US" sz="12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RESULTS — MODEL</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LSTM experiment: what the training shows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94944" y="1527048"/>
            <a:ext cx="3438144"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859536" y="1691640"/>
            <a:ext cx="3108960"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0.0168</a:t>
            </a:r>
            <a:endParaRPr lang="en-US" sz="3700" dirty="0"/>
          </a:p>
        </p:txBody>
      </p:sp>
      <p:sp>
        <p:nvSpPr>
          <p:cNvPr id="10" name="Text 8"/>
          <p:cNvSpPr/>
          <p:nvPr/>
        </p:nvSpPr>
        <p:spPr>
          <a:xfrm>
            <a:off x="877824" y="2487168"/>
            <a:ext cx="3072384"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final training loss</a:t>
            </a:r>
            <a:endParaRPr lang="en-US" sz="1400" dirty="0"/>
          </a:p>
        </p:txBody>
      </p:sp>
      <p:sp>
        <p:nvSpPr>
          <p:cNvPr id="11" name="Shape 9"/>
          <p:cNvSpPr/>
          <p:nvPr/>
        </p:nvSpPr>
        <p:spPr>
          <a:xfrm>
            <a:off x="4398264" y="1527048"/>
            <a:ext cx="3447288"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2" name="Text 10"/>
          <p:cNvSpPr/>
          <p:nvPr/>
        </p:nvSpPr>
        <p:spPr>
          <a:xfrm>
            <a:off x="4562856" y="1691640"/>
            <a:ext cx="3118104"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0.0349</a:t>
            </a:r>
            <a:endParaRPr lang="en-US" sz="3700" dirty="0"/>
          </a:p>
        </p:txBody>
      </p:sp>
      <p:sp>
        <p:nvSpPr>
          <p:cNvPr id="13" name="Text 11"/>
          <p:cNvSpPr/>
          <p:nvPr/>
        </p:nvSpPr>
        <p:spPr>
          <a:xfrm>
            <a:off x="4581144" y="2487168"/>
            <a:ext cx="3081528"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final validation loss</a:t>
            </a:r>
            <a:endParaRPr lang="en-US" sz="1400" dirty="0"/>
          </a:p>
        </p:txBody>
      </p:sp>
      <p:sp>
        <p:nvSpPr>
          <p:cNvPr id="14" name="Shape 12"/>
          <p:cNvSpPr/>
          <p:nvPr/>
        </p:nvSpPr>
        <p:spPr>
          <a:xfrm>
            <a:off x="8083296" y="1527048"/>
            <a:ext cx="3419856"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8247888" y="1691640"/>
            <a:ext cx="3090672"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10</a:t>
            </a:r>
            <a:endParaRPr lang="en-US" sz="3700" dirty="0"/>
          </a:p>
        </p:txBody>
      </p:sp>
      <p:sp>
        <p:nvSpPr>
          <p:cNvPr id="16" name="Text 14"/>
          <p:cNvSpPr/>
          <p:nvPr/>
        </p:nvSpPr>
        <p:spPr>
          <a:xfrm>
            <a:off x="8266176" y="2487168"/>
            <a:ext cx="3054096"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epochs in reported run</a:t>
            </a:r>
            <a:endParaRPr lang="en-US" sz="1400" dirty="0"/>
          </a:p>
        </p:txBody>
      </p:sp>
      <p:sp>
        <p:nvSpPr>
          <p:cNvPr id="17" name="Shape 15"/>
          <p:cNvSpPr/>
          <p:nvPr/>
        </p:nvSpPr>
        <p:spPr>
          <a:xfrm>
            <a:off x="777240" y="3538728"/>
            <a:ext cx="10689336" cy="1517904"/>
          </a:xfrm>
          <a:prstGeom prst="roundRect">
            <a:avLst>
              <a:gd name="adj" fmla="val 7229"/>
            </a:avLst>
          </a:prstGeom>
          <a:solidFill>
            <a:srgbClr val="FFFFFF"/>
          </a:solidFill>
          <a:ln w="12700">
            <a:solidFill>
              <a:srgbClr val="DCE5EC"/>
            </a:solidFill>
            <a:prstDash val="solid"/>
          </a:ln>
        </p:spPr>
        <p:txBody>
          <a:bodyPr/>
          <a:lstStyle/>
          <a:p>
            <a:endParaRPr lang="en-IN"/>
          </a:p>
        </p:txBody>
      </p:sp>
      <p:sp>
        <p:nvSpPr>
          <p:cNvPr id="18" name="Shape 16"/>
          <p:cNvSpPr/>
          <p:nvPr/>
        </p:nvSpPr>
        <p:spPr>
          <a:xfrm>
            <a:off x="777240" y="3538728"/>
            <a:ext cx="64008" cy="1517904"/>
          </a:xfrm>
          <a:prstGeom prst="rect">
            <a:avLst/>
          </a:prstGeom>
          <a:solidFill>
            <a:srgbClr val="12A39B"/>
          </a:solidFill>
          <a:ln w="12700">
            <a:solidFill>
              <a:srgbClr val="12A39B"/>
            </a:solidFill>
            <a:prstDash val="solid"/>
          </a:ln>
        </p:spPr>
        <p:txBody>
          <a:bodyPr/>
          <a:lstStyle/>
          <a:p>
            <a:endParaRPr lang="en-IN"/>
          </a:p>
        </p:txBody>
      </p:sp>
      <p:sp>
        <p:nvSpPr>
          <p:cNvPr id="19" name="Text 17"/>
          <p:cNvSpPr/>
          <p:nvPr/>
        </p:nvSpPr>
        <p:spPr>
          <a:xfrm>
            <a:off x="987552" y="3694176"/>
            <a:ext cx="1027785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Interpretation</a:t>
            </a:r>
            <a:endParaRPr lang="en-US" sz="1600" dirty="0"/>
          </a:p>
        </p:txBody>
      </p:sp>
      <p:sp>
        <p:nvSpPr>
          <p:cNvPr id="20" name="Text 18"/>
          <p:cNvSpPr/>
          <p:nvPr/>
        </p:nvSpPr>
        <p:spPr>
          <a:xfrm>
            <a:off x="987552" y="4105656"/>
            <a:ext cx="10268712" cy="850392"/>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The model learned to reconstruct familiar sequences. Validation loss stayed above training loss; evaluate held-out failure periods to judge detection quality.</a:t>
            </a:r>
            <a:endParaRPr lang="en-US" sz="1340" dirty="0"/>
          </a:p>
        </p:txBody>
      </p:sp>
      <p:sp>
        <p:nvSpPr>
          <p:cNvPr id="21" name="Shape 19"/>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2" name="Text 20"/>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Loss indicates reconstruction fit—not directly detection precision.</a:t>
            </a:r>
            <a:endParaRPr lang="en-US" sz="12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RESULTS — ANOMALY DETECTION</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Anomaly detection: test outcomes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94944" y="1527048"/>
            <a:ext cx="3429000"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859536" y="1691640"/>
            <a:ext cx="3099816"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0.9869</a:t>
            </a:r>
            <a:endParaRPr lang="en-US" sz="3700" dirty="0"/>
          </a:p>
        </p:txBody>
      </p:sp>
      <p:sp>
        <p:nvSpPr>
          <p:cNvPr id="10" name="Text 8"/>
          <p:cNvSpPr/>
          <p:nvPr/>
        </p:nvSpPr>
        <p:spPr>
          <a:xfrm>
            <a:off x="877824" y="2487168"/>
            <a:ext cx="3063240"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best reported F1-score</a:t>
            </a:r>
            <a:endParaRPr lang="en-US" sz="1400" dirty="0"/>
          </a:p>
        </p:txBody>
      </p:sp>
      <p:sp>
        <p:nvSpPr>
          <p:cNvPr id="11" name="Shape 9"/>
          <p:cNvSpPr/>
          <p:nvPr/>
        </p:nvSpPr>
        <p:spPr>
          <a:xfrm>
            <a:off x="4398264" y="1527048"/>
            <a:ext cx="3429000"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2" name="Text 10"/>
          <p:cNvSpPr/>
          <p:nvPr/>
        </p:nvSpPr>
        <p:spPr>
          <a:xfrm>
            <a:off x="4562856" y="1691640"/>
            <a:ext cx="3099816"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0.999</a:t>
            </a:r>
            <a:endParaRPr lang="en-US" sz="3700" dirty="0"/>
          </a:p>
        </p:txBody>
      </p:sp>
      <p:sp>
        <p:nvSpPr>
          <p:cNvPr id="13" name="Text 11"/>
          <p:cNvSpPr/>
          <p:nvPr/>
        </p:nvSpPr>
        <p:spPr>
          <a:xfrm>
            <a:off x="4581144" y="2487168"/>
            <a:ext cx="3063240"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maximum reported ROC-AUC</a:t>
            </a:r>
            <a:endParaRPr lang="en-US" sz="1400" dirty="0"/>
          </a:p>
        </p:txBody>
      </p:sp>
      <p:sp>
        <p:nvSpPr>
          <p:cNvPr id="14" name="Shape 12"/>
          <p:cNvSpPr/>
          <p:nvPr/>
        </p:nvSpPr>
        <p:spPr>
          <a:xfrm>
            <a:off x="8092440" y="1527048"/>
            <a:ext cx="3410712"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8257032" y="1691640"/>
            <a:ext cx="3081528"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0.9652</a:t>
            </a:r>
            <a:endParaRPr lang="en-US" sz="3700" dirty="0"/>
          </a:p>
        </p:txBody>
      </p:sp>
      <p:sp>
        <p:nvSpPr>
          <p:cNvPr id="16" name="Text 14"/>
          <p:cNvSpPr/>
          <p:nvPr/>
        </p:nvSpPr>
        <p:spPr>
          <a:xfrm>
            <a:off x="8275320" y="2487168"/>
            <a:ext cx="3044952"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F1 on Test Split 2 using Split 1 training</a:t>
            </a:r>
            <a:endParaRPr lang="en-US" sz="1400" dirty="0"/>
          </a:p>
        </p:txBody>
      </p:sp>
      <p:sp>
        <p:nvSpPr>
          <p:cNvPr id="17" name="Shape 15"/>
          <p:cNvSpPr/>
          <p:nvPr/>
        </p:nvSpPr>
        <p:spPr>
          <a:xfrm>
            <a:off x="777240" y="3538728"/>
            <a:ext cx="10671048" cy="1527048"/>
          </a:xfrm>
          <a:prstGeom prst="roundRect">
            <a:avLst>
              <a:gd name="adj" fmla="val 7186"/>
            </a:avLst>
          </a:prstGeom>
          <a:solidFill>
            <a:srgbClr val="FFFFFF"/>
          </a:solidFill>
          <a:ln w="12700">
            <a:solidFill>
              <a:srgbClr val="DCE5EC"/>
            </a:solidFill>
            <a:prstDash val="solid"/>
          </a:ln>
        </p:spPr>
        <p:txBody>
          <a:bodyPr/>
          <a:lstStyle/>
          <a:p>
            <a:endParaRPr lang="en-IN"/>
          </a:p>
        </p:txBody>
      </p:sp>
      <p:sp>
        <p:nvSpPr>
          <p:cNvPr id="18" name="Shape 16"/>
          <p:cNvSpPr/>
          <p:nvPr/>
        </p:nvSpPr>
        <p:spPr>
          <a:xfrm>
            <a:off x="777240" y="3538728"/>
            <a:ext cx="64008" cy="1527048"/>
          </a:xfrm>
          <a:prstGeom prst="rect">
            <a:avLst/>
          </a:prstGeom>
          <a:solidFill>
            <a:srgbClr val="F7B84B"/>
          </a:solidFill>
          <a:ln w="12700">
            <a:solidFill>
              <a:srgbClr val="F7B84B"/>
            </a:solidFill>
            <a:prstDash val="solid"/>
          </a:ln>
        </p:spPr>
        <p:txBody>
          <a:bodyPr/>
          <a:lstStyle/>
          <a:p>
            <a:endParaRPr lang="en-IN"/>
          </a:p>
        </p:txBody>
      </p:sp>
      <p:sp>
        <p:nvSpPr>
          <p:cNvPr id="19" name="Text 17"/>
          <p:cNvSpPr/>
          <p:nvPr/>
        </p:nvSpPr>
        <p:spPr>
          <a:xfrm>
            <a:off x="987552" y="3694176"/>
            <a:ext cx="10259568"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Important comparison</a:t>
            </a:r>
            <a:endParaRPr lang="en-US" sz="1600" dirty="0"/>
          </a:p>
        </p:txBody>
      </p:sp>
      <p:sp>
        <p:nvSpPr>
          <p:cNvPr id="20" name="Text 18"/>
          <p:cNvSpPr/>
          <p:nvPr/>
        </p:nvSpPr>
        <p:spPr>
          <a:xfrm>
            <a:off x="987552" y="4105656"/>
            <a:ext cx="10250424" cy="85953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Using Split 2 training for Test Split 2 yielded F1 = 0.8610. Detection depends on which healthy conditions are represented in training.</a:t>
            </a:r>
            <a:endParaRPr lang="en-US" sz="1340" dirty="0"/>
          </a:p>
        </p:txBody>
      </p:sp>
      <p:sp>
        <p:nvSpPr>
          <p:cNvPr id="21" name="Shape 19"/>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2" name="Text 20"/>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Strong best-case detection, but performance varies by split.</a:t>
            </a:r>
            <a:endParaRPr lang="en-US" sz="12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DAHI</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5: turn readings into health scores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768096" y="1490472"/>
            <a:ext cx="10671048" cy="804672"/>
          </a:xfrm>
          <a:prstGeom prst="roundRect">
            <a:avLst>
              <a:gd name="adj" fmla="val 13636"/>
            </a:avLst>
          </a:prstGeom>
          <a:solidFill>
            <a:srgbClr val="EAF7F6"/>
          </a:solidFill>
          <a:ln w="12700">
            <a:solidFill>
              <a:srgbClr val="EAF7F6"/>
            </a:solidFill>
            <a:prstDash val="solid"/>
          </a:ln>
        </p:spPr>
        <p:txBody>
          <a:bodyPr/>
          <a:lstStyle/>
          <a:p>
            <a:endParaRPr lang="en-IN"/>
          </a:p>
        </p:txBody>
      </p:sp>
      <p:sp>
        <p:nvSpPr>
          <p:cNvPr id="9" name="Text 7"/>
          <p:cNvSpPr/>
          <p:nvPr/>
        </p:nvSpPr>
        <p:spPr>
          <a:xfrm>
            <a:off x="1024128" y="1636776"/>
            <a:ext cx="10094976" cy="402336"/>
          </a:xfrm>
          <a:prstGeom prst="rect">
            <a:avLst/>
          </a:prstGeom>
          <a:noFill/>
          <a:ln/>
        </p:spPr>
        <p:txBody>
          <a:bodyPr wrap="square" lIns="0" tIns="0" rIns="0" bIns="0" rtlCol="0" anchor="ctr">
            <a:normAutofit/>
          </a:bodyPr>
          <a:lstStyle/>
          <a:p>
            <a:pPr marL="0" indent="0" algn="ctr">
              <a:buNone/>
            </a:pPr>
            <a:r>
              <a:rPr lang="en-US" sz="1700" b="1" dirty="0">
                <a:solidFill>
                  <a:srgbClr val="102A43"/>
                </a:solidFill>
                <a:latin typeface="Aptos" pitchFamily="34" charset="0"/>
                <a:ea typeface="Aptos" pitchFamily="34" charset="-122"/>
                <a:cs typeface="Aptos" pitchFamily="34" charset="-120"/>
              </a:rPr>
              <a:t>Sensor health  =  0–100 score from deviation around an expected operating value</a:t>
            </a:r>
            <a:endParaRPr lang="en-US" sz="1700" dirty="0"/>
          </a:p>
        </p:txBody>
      </p:sp>
      <p:sp>
        <p:nvSpPr>
          <p:cNvPr id="10" name="Shape 8"/>
          <p:cNvSpPr/>
          <p:nvPr/>
        </p:nvSpPr>
        <p:spPr>
          <a:xfrm>
            <a:off x="768096" y="2660904"/>
            <a:ext cx="10671048" cy="804672"/>
          </a:xfrm>
          <a:prstGeom prst="roundRect">
            <a:avLst>
              <a:gd name="adj" fmla="val 13636"/>
            </a:avLst>
          </a:prstGeom>
          <a:solidFill>
            <a:srgbClr val="FFFFFF"/>
          </a:solidFill>
          <a:ln w="12700">
            <a:solidFill>
              <a:srgbClr val="DCE5EC"/>
            </a:solidFill>
            <a:prstDash val="solid"/>
          </a:ln>
        </p:spPr>
        <p:txBody>
          <a:bodyPr/>
          <a:lstStyle/>
          <a:p>
            <a:endParaRPr lang="en-IN"/>
          </a:p>
        </p:txBody>
      </p:sp>
      <p:sp>
        <p:nvSpPr>
          <p:cNvPr id="11" name="Text 9"/>
          <p:cNvSpPr/>
          <p:nvPr/>
        </p:nvSpPr>
        <p:spPr>
          <a:xfrm>
            <a:off x="1033272" y="2852928"/>
            <a:ext cx="10094976" cy="384048"/>
          </a:xfrm>
          <a:prstGeom prst="rect">
            <a:avLst/>
          </a:prstGeom>
          <a:noFill/>
          <a:ln/>
        </p:spPr>
        <p:txBody>
          <a:bodyPr wrap="square" lIns="0" tIns="0" rIns="0" bIns="0" rtlCol="0" anchor="ctr">
            <a:normAutofit/>
          </a:bodyPr>
          <a:lstStyle/>
          <a:p>
            <a:pPr marL="0" indent="0" algn="ctr">
              <a:buNone/>
            </a:pPr>
            <a:r>
              <a:rPr lang="en-US" sz="1900" b="1" dirty="0">
                <a:solidFill>
                  <a:srgbClr val="147D92"/>
                </a:solidFill>
                <a:latin typeface="Aptos" pitchFamily="34" charset="0"/>
                <a:ea typeface="Aptos" pitchFamily="34" charset="-122"/>
                <a:cs typeface="Aptos" pitchFamily="34" charset="-120"/>
              </a:rPr>
              <a:t>Asset DAHI  =  weighted average of sensor health scores</a:t>
            </a:r>
            <a:endParaRPr lang="en-US" sz="1900" dirty="0"/>
          </a:p>
        </p:txBody>
      </p:sp>
      <p:sp>
        <p:nvSpPr>
          <p:cNvPr id="12" name="Shape 10"/>
          <p:cNvSpPr/>
          <p:nvPr/>
        </p:nvSpPr>
        <p:spPr>
          <a:xfrm>
            <a:off x="813816" y="4261104"/>
            <a:ext cx="2496312" cy="429768"/>
          </a:xfrm>
          <a:prstGeom prst="roundRect">
            <a:avLst>
              <a:gd name="adj" fmla="val 25532"/>
            </a:avLst>
          </a:prstGeom>
          <a:solidFill>
            <a:srgbClr val="2F9874"/>
          </a:solidFill>
          <a:ln w="12700">
            <a:solidFill>
              <a:srgbClr val="2F9874"/>
            </a:solidFill>
            <a:prstDash val="solid"/>
          </a:ln>
        </p:spPr>
        <p:txBody>
          <a:bodyPr/>
          <a:lstStyle/>
          <a:p>
            <a:endParaRPr lang="en-IN"/>
          </a:p>
        </p:txBody>
      </p:sp>
      <p:sp>
        <p:nvSpPr>
          <p:cNvPr id="13" name="Text 11"/>
          <p:cNvSpPr/>
          <p:nvPr/>
        </p:nvSpPr>
        <p:spPr>
          <a:xfrm>
            <a:off x="896112" y="4334256"/>
            <a:ext cx="2331720"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85–100  Low risk</a:t>
            </a:r>
            <a:endParaRPr lang="en-US" sz="1200" dirty="0"/>
          </a:p>
        </p:txBody>
      </p:sp>
      <p:sp>
        <p:nvSpPr>
          <p:cNvPr id="14" name="Shape 12"/>
          <p:cNvSpPr/>
          <p:nvPr/>
        </p:nvSpPr>
        <p:spPr>
          <a:xfrm>
            <a:off x="3630168" y="4261104"/>
            <a:ext cx="2496312" cy="429768"/>
          </a:xfrm>
          <a:prstGeom prst="roundRect">
            <a:avLst>
              <a:gd name="adj" fmla="val 25532"/>
            </a:avLst>
          </a:prstGeom>
          <a:solidFill>
            <a:srgbClr val="12A39B"/>
          </a:solidFill>
          <a:ln w="12700">
            <a:solidFill>
              <a:srgbClr val="12A39B"/>
            </a:solidFill>
            <a:prstDash val="solid"/>
          </a:ln>
        </p:spPr>
        <p:txBody>
          <a:bodyPr/>
          <a:lstStyle/>
          <a:p>
            <a:endParaRPr lang="en-IN"/>
          </a:p>
        </p:txBody>
      </p:sp>
      <p:sp>
        <p:nvSpPr>
          <p:cNvPr id="15" name="Text 13"/>
          <p:cNvSpPr/>
          <p:nvPr/>
        </p:nvSpPr>
        <p:spPr>
          <a:xfrm>
            <a:off x="3712464" y="4334256"/>
            <a:ext cx="2331720"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70–84  Medium</a:t>
            </a:r>
            <a:endParaRPr lang="en-US" sz="1200" dirty="0"/>
          </a:p>
        </p:txBody>
      </p:sp>
      <p:sp>
        <p:nvSpPr>
          <p:cNvPr id="16" name="Shape 14"/>
          <p:cNvSpPr/>
          <p:nvPr/>
        </p:nvSpPr>
        <p:spPr>
          <a:xfrm>
            <a:off x="6446520" y="4261104"/>
            <a:ext cx="2496312" cy="429768"/>
          </a:xfrm>
          <a:prstGeom prst="roundRect">
            <a:avLst>
              <a:gd name="adj" fmla="val 25532"/>
            </a:avLst>
          </a:prstGeom>
          <a:solidFill>
            <a:srgbClr val="F7B84B"/>
          </a:solidFill>
          <a:ln w="12700">
            <a:solidFill>
              <a:srgbClr val="F7B84B"/>
            </a:solidFill>
            <a:prstDash val="solid"/>
          </a:ln>
        </p:spPr>
        <p:txBody>
          <a:bodyPr/>
          <a:lstStyle/>
          <a:p>
            <a:endParaRPr lang="en-IN"/>
          </a:p>
        </p:txBody>
      </p:sp>
      <p:sp>
        <p:nvSpPr>
          <p:cNvPr id="17" name="Text 15"/>
          <p:cNvSpPr/>
          <p:nvPr/>
        </p:nvSpPr>
        <p:spPr>
          <a:xfrm>
            <a:off x="6528816" y="4334256"/>
            <a:ext cx="2331720"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40–69  High</a:t>
            </a:r>
            <a:endParaRPr lang="en-US" sz="1200" dirty="0"/>
          </a:p>
        </p:txBody>
      </p:sp>
      <p:sp>
        <p:nvSpPr>
          <p:cNvPr id="18" name="Shape 16"/>
          <p:cNvSpPr/>
          <p:nvPr/>
        </p:nvSpPr>
        <p:spPr>
          <a:xfrm>
            <a:off x="9262872" y="4261104"/>
            <a:ext cx="2496312" cy="429768"/>
          </a:xfrm>
          <a:prstGeom prst="roundRect">
            <a:avLst>
              <a:gd name="adj" fmla="val 25532"/>
            </a:avLst>
          </a:prstGeom>
          <a:solidFill>
            <a:srgbClr val="C84F5F"/>
          </a:solidFill>
          <a:ln w="12700">
            <a:solidFill>
              <a:srgbClr val="C84F5F"/>
            </a:solidFill>
            <a:prstDash val="solid"/>
          </a:ln>
        </p:spPr>
        <p:txBody>
          <a:bodyPr/>
          <a:lstStyle/>
          <a:p>
            <a:endParaRPr lang="en-IN"/>
          </a:p>
        </p:txBody>
      </p:sp>
      <p:sp>
        <p:nvSpPr>
          <p:cNvPr id="19" name="Text 17"/>
          <p:cNvSpPr/>
          <p:nvPr/>
        </p:nvSpPr>
        <p:spPr>
          <a:xfrm>
            <a:off x="9345168" y="4334256"/>
            <a:ext cx="2331720" cy="2834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0–39  Critical</a:t>
            </a:r>
            <a:endParaRPr lang="en-US" sz="1200" dirty="0"/>
          </a:p>
        </p:txBody>
      </p:sp>
      <p:sp>
        <p:nvSpPr>
          <p:cNvPr id="20" name="Shape 18"/>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1" name="Text 19"/>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The score answers “How healthy is the asset?” instead of only “Is it anomalous?”</a:t>
            </a:r>
            <a:endParaRPr lang="en-US" sz="12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RESULTS — HEALTH</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DAHI result: why COMP_01 needs attention</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722376" y="1545336"/>
            <a:ext cx="3858768"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886968" y="1709928"/>
            <a:ext cx="3529584" cy="713232"/>
          </a:xfrm>
          <a:prstGeom prst="rect">
            <a:avLst/>
          </a:prstGeom>
          <a:noFill/>
          <a:ln/>
        </p:spPr>
        <p:txBody>
          <a:bodyPr wrap="square" lIns="0" tIns="0" rIns="0" bIns="0" rtlCol="0" anchor="ctr">
            <a:normAutofit/>
          </a:bodyPr>
          <a:lstStyle/>
          <a:p>
            <a:pPr marL="0" indent="0" algn="l">
              <a:buNone/>
            </a:pPr>
            <a:r>
              <a:rPr lang="en-US" sz="3700" b="1" dirty="0">
                <a:solidFill>
                  <a:srgbClr val="C84F5F"/>
                </a:solidFill>
                <a:latin typeface="Aptos" pitchFamily="34" charset="0"/>
                <a:ea typeface="Aptos" pitchFamily="34" charset="-122"/>
                <a:cs typeface="Aptos" pitchFamily="34" charset="-120"/>
              </a:rPr>
              <a:t>39.66 / 100</a:t>
            </a:r>
            <a:endParaRPr lang="en-US" sz="3700" dirty="0"/>
          </a:p>
        </p:txBody>
      </p:sp>
      <p:sp>
        <p:nvSpPr>
          <p:cNvPr id="10" name="Text 8"/>
          <p:cNvSpPr/>
          <p:nvPr/>
        </p:nvSpPr>
        <p:spPr>
          <a:xfrm>
            <a:off x="905256" y="2505456"/>
            <a:ext cx="3493008"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COMP_01 overall health — critical</a:t>
            </a:r>
            <a:endParaRPr lang="en-US" sz="1400" dirty="0"/>
          </a:p>
        </p:txBody>
      </p:sp>
      <p:sp>
        <p:nvSpPr>
          <p:cNvPr id="11" name="Shape 9"/>
          <p:cNvSpPr/>
          <p:nvPr/>
        </p:nvSpPr>
        <p:spPr>
          <a:xfrm>
            <a:off x="4864608" y="1545336"/>
            <a:ext cx="3099816"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2" name="Text 10"/>
          <p:cNvSpPr/>
          <p:nvPr/>
        </p:nvSpPr>
        <p:spPr>
          <a:xfrm>
            <a:off x="5029200" y="1709928"/>
            <a:ext cx="2770632" cy="713232"/>
          </a:xfrm>
          <a:prstGeom prst="rect">
            <a:avLst/>
          </a:prstGeom>
          <a:noFill/>
          <a:ln/>
        </p:spPr>
        <p:txBody>
          <a:bodyPr wrap="square" lIns="0" tIns="0" rIns="0" bIns="0" rtlCol="0" anchor="ctr">
            <a:normAutofit/>
          </a:bodyPr>
          <a:lstStyle/>
          <a:p>
            <a:pPr marL="0" indent="0" algn="l">
              <a:buNone/>
            </a:pPr>
            <a:r>
              <a:rPr lang="en-US" sz="3700" b="1" dirty="0">
                <a:solidFill>
                  <a:srgbClr val="C84F5F"/>
                </a:solidFill>
                <a:latin typeface="Aptos" pitchFamily="34" charset="0"/>
                <a:ea typeface="Aptos" pitchFamily="34" charset="-122"/>
                <a:cs typeface="Aptos" pitchFamily="34" charset="-120"/>
              </a:rPr>
              <a:t>39.4 / 100</a:t>
            </a:r>
            <a:endParaRPr lang="en-US" sz="3700" dirty="0"/>
          </a:p>
        </p:txBody>
      </p:sp>
      <p:sp>
        <p:nvSpPr>
          <p:cNvPr id="13" name="Text 11"/>
          <p:cNvSpPr/>
          <p:nvPr/>
        </p:nvSpPr>
        <p:spPr>
          <a:xfrm>
            <a:off x="5047488" y="2505456"/>
            <a:ext cx="2734056"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H1 sensor health</a:t>
            </a:r>
            <a:endParaRPr lang="en-US" sz="1400" dirty="0"/>
          </a:p>
        </p:txBody>
      </p:sp>
      <p:sp>
        <p:nvSpPr>
          <p:cNvPr id="14" name="Shape 12"/>
          <p:cNvSpPr/>
          <p:nvPr/>
        </p:nvSpPr>
        <p:spPr>
          <a:xfrm>
            <a:off x="8229600" y="1545336"/>
            <a:ext cx="3118104"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8394192" y="1709928"/>
            <a:ext cx="2788920" cy="713232"/>
          </a:xfrm>
          <a:prstGeom prst="rect">
            <a:avLst/>
          </a:prstGeom>
          <a:noFill/>
          <a:ln/>
        </p:spPr>
        <p:txBody>
          <a:bodyPr wrap="square" lIns="0" tIns="0" rIns="0" bIns="0" rtlCol="0" anchor="ctr">
            <a:normAutofit/>
          </a:bodyPr>
          <a:lstStyle/>
          <a:p>
            <a:pPr marL="0" indent="0" algn="l">
              <a:buNone/>
            </a:pPr>
            <a:r>
              <a:rPr lang="en-US" sz="3700" b="1" dirty="0">
                <a:solidFill>
                  <a:srgbClr val="F7B84B"/>
                </a:solidFill>
                <a:latin typeface="Aptos" pitchFamily="34" charset="0"/>
                <a:ea typeface="Aptos" pitchFamily="34" charset="-122"/>
                <a:cs typeface="Aptos" pitchFamily="34" charset="-120"/>
              </a:rPr>
              <a:t>49.9 / 100</a:t>
            </a:r>
            <a:endParaRPr lang="en-US" sz="3700" dirty="0"/>
          </a:p>
        </p:txBody>
      </p:sp>
      <p:sp>
        <p:nvSpPr>
          <p:cNvPr id="16" name="Text 14"/>
          <p:cNvSpPr/>
          <p:nvPr/>
        </p:nvSpPr>
        <p:spPr>
          <a:xfrm>
            <a:off x="8412480" y="2505456"/>
            <a:ext cx="2752344"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oil-temperature health</a:t>
            </a:r>
            <a:endParaRPr lang="en-US" sz="1400" dirty="0"/>
          </a:p>
        </p:txBody>
      </p:sp>
      <p:sp>
        <p:nvSpPr>
          <p:cNvPr id="17" name="Shape 15"/>
          <p:cNvSpPr/>
          <p:nvPr/>
        </p:nvSpPr>
        <p:spPr>
          <a:xfrm>
            <a:off x="749808" y="3621024"/>
            <a:ext cx="10671048" cy="1426464"/>
          </a:xfrm>
          <a:prstGeom prst="roundRect">
            <a:avLst>
              <a:gd name="adj" fmla="val 7692"/>
            </a:avLst>
          </a:prstGeom>
          <a:solidFill>
            <a:srgbClr val="FFFFFF"/>
          </a:solidFill>
          <a:ln w="12700">
            <a:solidFill>
              <a:srgbClr val="DCE5EC"/>
            </a:solidFill>
            <a:prstDash val="solid"/>
          </a:ln>
        </p:spPr>
        <p:txBody>
          <a:bodyPr/>
          <a:lstStyle/>
          <a:p>
            <a:endParaRPr lang="en-IN"/>
          </a:p>
        </p:txBody>
      </p:sp>
      <p:sp>
        <p:nvSpPr>
          <p:cNvPr id="18" name="Shape 16"/>
          <p:cNvSpPr/>
          <p:nvPr/>
        </p:nvSpPr>
        <p:spPr>
          <a:xfrm>
            <a:off x="749808" y="3621024"/>
            <a:ext cx="64008" cy="1426464"/>
          </a:xfrm>
          <a:prstGeom prst="rect">
            <a:avLst/>
          </a:prstGeom>
          <a:solidFill>
            <a:srgbClr val="12A39B"/>
          </a:solidFill>
          <a:ln w="12700">
            <a:solidFill>
              <a:srgbClr val="12A39B"/>
            </a:solidFill>
            <a:prstDash val="solid"/>
          </a:ln>
        </p:spPr>
        <p:txBody>
          <a:bodyPr/>
          <a:lstStyle/>
          <a:p>
            <a:endParaRPr lang="en-IN"/>
          </a:p>
        </p:txBody>
      </p:sp>
      <p:sp>
        <p:nvSpPr>
          <p:cNvPr id="19" name="Text 17"/>
          <p:cNvSpPr/>
          <p:nvPr/>
        </p:nvSpPr>
        <p:spPr>
          <a:xfrm>
            <a:off x="960120" y="3776472"/>
            <a:ext cx="10259568"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Interpretation</a:t>
            </a:r>
            <a:endParaRPr lang="en-US" sz="1600" dirty="0"/>
          </a:p>
        </p:txBody>
      </p:sp>
      <p:sp>
        <p:nvSpPr>
          <p:cNvPr id="20" name="Text 18"/>
          <p:cNvSpPr/>
          <p:nvPr/>
        </p:nvSpPr>
        <p:spPr>
          <a:xfrm>
            <a:off x="960120" y="4187952"/>
            <a:ext cx="10250424" cy="758952"/>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H1 and oil-temperature deviations reduce the composite health score. The dashboard can show engineers which sensors contribute to concern.</a:t>
            </a:r>
            <a:endParaRPr lang="en-US" sz="1340" dirty="0"/>
          </a:p>
        </p:txBody>
      </p:sp>
      <p:sp>
        <p:nvSpPr>
          <p:cNvPr id="21" name="Shape 19"/>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2" name="Text 20"/>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COMP_01 changes from an unexplained anomaly into an interpretable critical-health case.</a:t>
            </a:r>
            <a:endParaRPr lang="en-US" sz="12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MAPE</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6: prioritize the maintenance queue</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76656" y="1527048"/>
            <a:ext cx="5614416" cy="2377440"/>
          </a:xfrm>
          <a:prstGeom prst="roundRect">
            <a:avLst>
              <a:gd name="adj" fmla="val 4615"/>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76656" y="1527048"/>
            <a:ext cx="64008" cy="2377440"/>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886968" y="1682496"/>
            <a:ext cx="520293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Inputs to ranking</a:t>
            </a:r>
            <a:endParaRPr lang="en-US" sz="1600" dirty="0"/>
          </a:p>
        </p:txBody>
      </p:sp>
      <p:sp>
        <p:nvSpPr>
          <p:cNvPr id="11" name="Text 9"/>
          <p:cNvSpPr/>
          <p:nvPr/>
        </p:nvSpPr>
        <p:spPr>
          <a:xfrm>
            <a:off x="886968" y="2093976"/>
            <a:ext cx="5193792" cy="17099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Health urgency (40%) + risk level (25%) + asset criticality (20%) + maintenance history (15%).</a:t>
            </a:r>
            <a:endParaRPr lang="en-US" sz="1340" dirty="0"/>
          </a:p>
        </p:txBody>
      </p:sp>
      <p:sp>
        <p:nvSpPr>
          <p:cNvPr id="12" name="Shape 10"/>
          <p:cNvSpPr/>
          <p:nvPr/>
        </p:nvSpPr>
        <p:spPr>
          <a:xfrm>
            <a:off x="6492240" y="1527048"/>
            <a:ext cx="5010912" cy="2377440"/>
          </a:xfrm>
          <a:prstGeom prst="roundRect">
            <a:avLst>
              <a:gd name="adj" fmla="val 4615"/>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492240" y="1527048"/>
            <a:ext cx="64008" cy="2377440"/>
          </a:xfrm>
          <a:prstGeom prst="rect">
            <a:avLst/>
          </a:prstGeom>
          <a:solidFill>
            <a:srgbClr val="12A39B"/>
          </a:solidFill>
          <a:ln w="12700">
            <a:solidFill>
              <a:srgbClr val="12A39B"/>
            </a:solidFill>
            <a:prstDash val="solid"/>
          </a:ln>
        </p:spPr>
        <p:txBody>
          <a:bodyPr/>
          <a:lstStyle/>
          <a:p>
            <a:endParaRPr lang="en-IN"/>
          </a:p>
        </p:txBody>
      </p:sp>
      <p:sp>
        <p:nvSpPr>
          <p:cNvPr id="14" name="Text 12"/>
          <p:cNvSpPr/>
          <p:nvPr/>
        </p:nvSpPr>
        <p:spPr>
          <a:xfrm>
            <a:off x="6702552" y="1682496"/>
            <a:ext cx="459943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Output for COMP_01</a:t>
            </a:r>
            <a:endParaRPr lang="en-US" sz="1600" dirty="0"/>
          </a:p>
        </p:txBody>
      </p:sp>
      <p:sp>
        <p:nvSpPr>
          <p:cNvPr id="15" name="Text 13"/>
          <p:cNvSpPr/>
          <p:nvPr/>
        </p:nvSpPr>
        <p:spPr>
          <a:xfrm>
            <a:off x="6702552" y="2093976"/>
            <a:ext cx="4590288" cy="17099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Priority score: 84.1. The asset receives elevated attention in a ranked work queue.</a:t>
            </a:r>
            <a:endParaRPr lang="en-US" sz="1340" dirty="0"/>
          </a:p>
        </p:txBody>
      </p:sp>
      <p:sp>
        <p:nvSpPr>
          <p:cNvPr id="16" name="Shape 14"/>
          <p:cNvSpPr/>
          <p:nvPr/>
        </p:nvSpPr>
        <p:spPr>
          <a:xfrm>
            <a:off x="950976" y="4279392"/>
            <a:ext cx="10158984" cy="804672"/>
          </a:xfrm>
          <a:prstGeom prst="roundRect">
            <a:avLst>
              <a:gd name="adj" fmla="val 13636"/>
            </a:avLst>
          </a:prstGeom>
          <a:solidFill>
            <a:srgbClr val="102A43"/>
          </a:solidFill>
          <a:ln w="12700">
            <a:solidFill>
              <a:srgbClr val="102A43"/>
            </a:solidFill>
            <a:prstDash val="solid"/>
          </a:ln>
        </p:spPr>
        <p:txBody>
          <a:bodyPr/>
          <a:lstStyle/>
          <a:p>
            <a:endParaRPr lang="en-IN"/>
          </a:p>
        </p:txBody>
      </p:sp>
      <p:sp>
        <p:nvSpPr>
          <p:cNvPr id="17" name="Text 15"/>
          <p:cNvSpPr/>
          <p:nvPr/>
        </p:nvSpPr>
        <p:spPr>
          <a:xfrm>
            <a:off x="1179576" y="4498848"/>
            <a:ext cx="9683496" cy="356616"/>
          </a:xfrm>
          <a:prstGeom prst="rect">
            <a:avLst/>
          </a:prstGeom>
          <a:noFill/>
          <a:ln/>
        </p:spPr>
        <p:txBody>
          <a:bodyPr wrap="square" lIns="0" tIns="0" rIns="0" bIns="0" rtlCol="0" anchor="ctr">
            <a:normAutofit/>
          </a:bodyPr>
          <a:lstStyle/>
          <a:p>
            <a:pPr marL="0" indent="0" algn="ctr">
              <a:buNone/>
            </a:pPr>
            <a:r>
              <a:rPr lang="en-US" sz="1650" b="1" dirty="0">
                <a:solidFill>
                  <a:srgbClr val="FFFFFF"/>
                </a:solidFill>
                <a:latin typeface="Aptos" pitchFamily="34" charset="0"/>
                <a:ea typeface="Aptos" pitchFamily="34" charset="-122"/>
                <a:cs typeface="Aptos" pitchFamily="34" charset="-120"/>
              </a:rPr>
              <a:t>All inputs must be normalized to comparable scales before combining weights.</a:t>
            </a:r>
            <a:endParaRPr lang="en-US" sz="1650" dirty="0"/>
          </a:p>
        </p:txBody>
      </p:sp>
      <p:sp>
        <p:nvSpPr>
          <p:cNvPr id="18" name="Shape 16"/>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19" name="Text 17"/>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MAPE answers “Which asset should engineers review first?”</a:t>
            </a:r>
            <a:endParaRPr lang="en-US" sz="12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EME</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7: explain the flagged condition</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12648" y="1408176"/>
            <a:ext cx="5376672" cy="2258568"/>
          </a:xfrm>
          <a:prstGeom prst="roundRect">
            <a:avLst>
              <a:gd name="adj" fmla="val 4858"/>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12648" y="1408176"/>
            <a:ext cx="64008" cy="2258568"/>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822960" y="1563624"/>
            <a:ext cx="496519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Rule 1 — pressure + current</a:t>
            </a:r>
            <a:endParaRPr lang="en-US" sz="1600" dirty="0"/>
          </a:p>
        </p:txBody>
      </p:sp>
      <p:sp>
        <p:nvSpPr>
          <p:cNvPr id="11" name="Text 9"/>
          <p:cNvSpPr/>
          <p:nvPr/>
        </p:nvSpPr>
        <p:spPr>
          <a:xfrm>
            <a:off x="822960" y="1975104"/>
            <a:ext cx="4956048" cy="159105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TP2 falls and motor current rises → possible pneumatic leakage → inspect connections and seals.</a:t>
            </a:r>
            <a:endParaRPr lang="en-US" sz="1340" dirty="0"/>
          </a:p>
        </p:txBody>
      </p:sp>
      <p:sp>
        <p:nvSpPr>
          <p:cNvPr id="12" name="Shape 10"/>
          <p:cNvSpPr/>
          <p:nvPr/>
        </p:nvSpPr>
        <p:spPr>
          <a:xfrm>
            <a:off x="6199632" y="1408176"/>
            <a:ext cx="5340096" cy="2258568"/>
          </a:xfrm>
          <a:prstGeom prst="roundRect">
            <a:avLst>
              <a:gd name="adj" fmla="val 4858"/>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199632" y="1408176"/>
            <a:ext cx="64008" cy="2258568"/>
          </a:xfrm>
          <a:prstGeom prst="rect">
            <a:avLst/>
          </a:prstGeom>
          <a:solidFill>
            <a:srgbClr val="F7B84B"/>
          </a:solidFill>
          <a:ln w="12700">
            <a:solidFill>
              <a:srgbClr val="F7B84B"/>
            </a:solidFill>
            <a:prstDash val="solid"/>
          </a:ln>
        </p:spPr>
        <p:txBody>
          <a:bodyPr/>
          <a:lstStyle/>
          <a:p>
            <a:endParaRPr lang="en-IN"/>
          </a:p>
        </p:txBody>
      </p:sp>
      <p:sp>
        <p:nvSpPr>
          <p:cNvPr id="14" name="Text 12"/>
          <p:cNvSpPr/>
          <p:nvPr/>
        </p:nvSpPr>
        <p:spPr>
          <a:xfrm>
            <a:off x="6409944" y="1563624"/>
            <a:ext cx="492861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Rule 2 — oil temperature</a:t>
            </a:r>
            <a:endParaRPr lang="en-US" sz="1600" dirty="0"/>
          </a:p>
        </p:txBody>
      </p:sp>
      <p:sp>
        <p:nvSpPr>
          <p:cNvPr id="15" name="Text 13"/>
          <p:cNvSpPr/>
          <p:nvPr/>
        </p:nvSpPr>
        <p:spPr>
          <a:xfrm>
            <a:off x="6409944" y="1975104"/>
            <a:ext cx="4919472" cy="1591056"/>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Oil temperature &gt; 85°C → abnormal heating condition → check lubrication and cooling.</a:t>
            </a:r>
            <a:endParaRPr lang="en-US" sz="1340" dirty="0"/>
          </a:p>
        </p:txBody>
      </p:sp>
      <p:sp>
        <p:nvSpPr>
          <p:cNvPr id="16" name="Shape 14"/>
          <p:cNvSpPr/>
          <p:nvPr/>
        </p:nvSpPr>
        <p:spPr>
          <a:xfrm>
            <a:off x="612648" y="3822192"/>
            <a:ext cx="10927080" cy="1188720"/>
          </a:xfrm>
          <a:prstGeom prst="roundRect">
            <a:avLst>
              <a:gd name="adj" fmla="val 9231"/>
            </a:avLst>
          </a:prstGeom>
          <a:solidFill>
            <a:srgbClr val="FFFFFF"/>
          </a:solidFill>
          <a:ln w="12700">
            <a:solidFill>
              <a:srgbClr val="DCE5EC"/>
            </a:solidFill>
            <a:prstDash val="solid"/>
          </a:ln>
        </p:spPr>
        <p:txBody>
          <a:bodyPr/>
          <a:lstStyle/>
          <a:p>
            <a:endParaRPr lang="en-IN"/>
          </a:p>
        </p:txBody>
      </p:sp>
      <p:sp>
        <p:nvSpPr>
          <p:cNvPr id="17" name="Shape 15"/>
          <p:cNvSpPr/>
          <p:nvPr/>
        </p:nvSpPr>
        <p:spPr>
          <a:xfrm>
            <a:off x="612648" y="3822192"/>
            <a:ext cx="64008" cy="1188720"/>
          </a:xfrm>
          <a:prstGeom prst="rect">
            <a:avLst/>
          </a:prstGeom>
          <a:solidFill>
            <a:srgbClr val="12A39B"/>
          </a:solidFill>
          <a:ln w="12700">
            <a:solidFill>
              <a:srgbClr val="12A39B"/>
            </a:solidFill>
            <a:prstDash val="solid"/>
          </a:ln>
        </p:spPr>
        <p:txBody>
          <a:bodyPr/>
          <a:lstStyle/>
          <a:p>
            <a:endParaRPr lang="en-IN"/>
          </a:p>
        </p:txBody>
      </p:sp>
      <p:sp>
        <p:nvSpPr>
          <p:cNvPr id="18" name="Text 16"/>
          <p:cNvSpPr/>
          <p:nvPr/>
        </p:nvSpPr>
        <p:spPr>
          <a:xfrm>
            <a:off x="822960" y="3977640"/>
            <a:ext cx="10515600"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Rule 3 — protection signal</a:t>
            </a:r>
            <a:endParaRPr lang="en-US" sz="1600" dirty="0"/>
          </a:p>
        </p:txBody>
      </p:sp>
      <p:sp>
        <p:nvSpPr>
          <p:cNvPr id="19" name="Text 17"/>
          <p:cNvSpPr/>
          <p:nvPr/>
        </p:nvSpPr>
        <p:spPr>
          <a:xfrm>
            <a:off x="822960" y="4389120"/>
            <a:ext cx="10506456" cy="52120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Low reservoir pressure with LPS = 1 → insufficient pressure indication → immediate technical inspection.</a:t>
            </a:r>
            <a:endParaRPr lang="en-US" sz="1340" dirty="0"/>
          </a:p>
        </p:txBody>
      </p:sp>
      <p:sp>
        <p:nvSpPr>
          <p:cNvPr id="20" name="Shape 18"/>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1" name="Text 19"/>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Explanations are engineering-oriented rule suggestions—not confirmed fault diagnoses.</a:t>
            </a:r>
            <a:endParaRPr lang="en-US" sz="12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AMA</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Implementation step 8: ask questions in ordinary language</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85800" y="1426464"/>
            <a:ext cx="10771632" cy="1170432"/>
          </a:xfrm>
          <a:prstGeom prst="roundRect">
            <a:avLst>
              <a:gd name="adj" fmla="val 9375"/>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85800" y="1426464"/>
            <a:ext cx="64008" cy="1170432"/>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896112" y="1581912"/>
            <a:ext cx="1036015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“Which asset needs attention?”</a:t>
            </a:r>
            <a:endParaRPr lang="en-US" sz="1600" dirty="0"/>
          </a:p>
        </p:txBody>
      </p:sp>
      <p:sp>
        <p:nvSpPr>
          <p:cNvPr id="11" name="Text 9"/>
          <p:cNvSpPr/>
          <p:nvPr/>
        </p:nvSpPr>
        <p:spPr>
          <a:xfrm>
            <a:off x="896112" y="1993392"/>
            <a:ext cx="10351008" cy="502920"/>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Return ranked assets from MAPE.</a:t>
            </a:r>
            <a:endParaRPr lang="en-US" sz="1340" dirty="0"/>
          </a:p>
        </p:txBody>
      </p:sp>
      <p:sp>
        <p:nvSpPr>
          <p:cNvPr id="12" name="Shape 10"/>
          <p:cNvSpPr/>
          <p:nvPr/>
        </p:nvSpPr>
        <p:spPr>
          <a:xfrm>
            <a:off x="685800" y="2770632"/>
            <a:ext cx="10771632" cy="1170432"/>
          </a:xfrm>
          <a:prstGeom prst="roundRect">
            <a:avLst>
              <a:gd name="adj" fmla="val 9375"/>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85800" y="2770632"/>
            <a:ext cx="64008" cy="1170432"/>
          </a:xfrm>
          <a:prstGeom prst="rect">
            <a:avLst/>
          </a:prstGeom>
          <a:solidFill>
            <a:srgbClr val="12A39B"/>
          </a:solidFill>
          <a:ln w="12700">
            <a:solidFill>
              <a:srgbClr val="12A39B"/>
            </a:solidFill>
            <a:prstDash val="solid"/>
          </a:ln>
        </p:spPr>
        <p:txBody>
          <a:bodyPr/>
          <a:lstStyle/>
          <a:p>
            <a:endParaRPr lang="en-IN"/>
          </a:p>
        </p:txBody>
      </p:sp>
      <p:sp>
        <p:nvSpPr>
          <p:cNvPr id="14" name="Text 12"/>
          <p:cNvSpPr/>
          <p:nvPr/>
        </p:nvSpPr>
        <p:spPr>
          <a:xfrm>
            <a:off x="896112" y="2926080"/>
            <a:ext cx="1036015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“Show COMP_01 health.”</a:t>
            </a:r>
            <a:endParaRPr lang="en-US" sz="1600" dirty="0"/>
          </a:p>
        </p:txBody>
      </p:sp>
      <p:sp>
        <p:nvSpPr>
          <p:cNvPr id="15" name="Text 13"/>
          <p:cNvSpPr/>
          <p:nvPr/>
        </p:nvSpPr>
        <p:spPr>
          <a:xfrm>
            <a:off x="896112" y="3337560"/>
            <a:ext cx="10351008" cy="502920"/>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Read latest DAHI and sensor evidence.</a:t>
            </a:r>
            <a:endParaRPr lang="en-US" sz="1340" dirty="0"/>
          </a:p>
        </p:txBody>
      </p:sp>
      <p:sp>
        <p:nvSpPr>
          <p:cNvPr id="16" name="Shape 14"/>
          <p:cNvSpPr/>
          <p:nvPr/>
        </p:nvSpPr>
        <p:spPr>
          <a:xfrm>
            <a:off x="685800" y="4114800"/>
            <a:ext cx="10771632" cy="1170432"/>
          </a:xfrm>
          <a:prstGeom prst="roundRect">
            <a:avLst>
              <a:gd name="adj" fmla="val 9375"/>
            </a:avLst>
          </a:prstGeom>
          <a:solidFill>
            <a:srgbClr val="FFFFFF"/>
          </a:solidFill>
          <a:ln w="12700">
            <a:solidFill>
              <a:srgbClr val="DCE5EC"/>
            </a:solidFill>
            <a:prstDash val="solid"/>
          </a:ln>
        </p:spPr>
        <p:txBody>
          <a:bodyPr/>
          <a:lstStyle/>
          <a:p>
            <a:endParaRPr lang="en-IN"/>
          </a:p>
        </p:txBody>
      </p:sp>
      <p:sp>
        <p:nvSpPr>
          <p:cNvPr id="17" name="Shape 15"/>
          <p:cNvSpPr/>
          <p:nvPr/>
        </p:nvSpPr>
        <p:spPr>
          <a:xfrm>
            <a:off x="685800" y="4114800"/>
            <a:ext cx="64008" cy="1170432"/>
          </a:xfrm>
          <a:prstGeom prst="rect">
            <a:avLst/>
          </a:prstGeom>
          <a:solidFill>
            <a:srgbClr val="147D92"/>
          </a:solidFill>
          <a:ln w="12700">
            <a:solidFill>
              <a:srgbClr val="147D92"/>
            </a:solidFill>
            <a:prstDash val="solid"/>
          </a:ln>
        </p:spPr>
        <p:txBody>
          <a:bodyPr/>
          <a:lstStyle/>
          <a:p>
            <a:endParaRPr lang="en-IN"/>
          </a:p>
        </p:txBody>
      </p:sp>
      <p:sp>
        <p:nvSpPr>
          <p:cNvPr id="18" name="Text 16"/>
          <p:cNvSpPr/>
          <p:nvPr/>
        </p:nvSpPr>
        <p:spPr>
          <a:xfrm>
            <a:off x="896112" y="4270248"/>
            <a:ext cx="1036015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“Why was it flagged?”</a:t>
            </a:r>
            <a:endParaRPr lang="en-US" sz="1600" dirty="0"/>
          </a:p>
        </p:txBody>
      </p:sp>
      <p:sp>
        <p:nvSpPr>
          <p:cNvPr id="19" name="Text 17"/>
          <p:cNvSpPr/>
          <p:nvPr/>
        </p:nvSpPr>
        <p:spPr>
          <a:xfrm>
            <a:off x="896112" y="4681728"/>
            <a:ext cx="10351008" cy="502920"/>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Retrieve the matched EME rule and action.</a:t>
            </a:r>
            <a:endParaRPr lang="en-US" sz="1340" dirty="0"/>
          </a:p>
        </p:txBody>
      </p:sp>
      <p:sp>
        <p:nvSpPr>
          <p:cNvPr id="20" name="Shape 18"/>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1" name="Text 19"/>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AMA makes stored maintenance information easier to access without writing MongoDB queries.</a:t>
            </a:r>
            <a:endParaRPr lang="en-US" sz="12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INTEGRATED OUTCOME</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One end-to-end example: what the engineer receives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722376" y="1417320"/>
            <a:ext cx="10689336" cy="658368"/>
          </a:xfrm>
          <a:prstGeom prst="roundRect">
            <a:avLst>
              <a:gd name="adj" fmla="val 16667"/>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950976" y="1527048"/>
            <a:ext cx="2057400" cy="365760"/>
          </a:xfrm>
          <a:prstGeom prst="rect">
            <a:avLst/>
          </a:prstGeom>
          <a:noFill/>
          <a:ln/>
        </p:spPr>
        <p:txBody>
          <a:bodyPr wrap="square" lIns="0" tIns="0" rIns="0" bIns="0" rtlCol="0" anchor="ctr">
            <a:normAutofit/>
          </a:bodyPr>
          <a:lstStyle/>
          <a:p>
            <a:pPr marL="0" indent="0" algn="l">
              <a:buNone/>
            </a:pPr>
            <a:r>
              <a:rPr lang="en-US" sz="1570" b="1" dirty="0">
                <a:solidFill>
                  <a:srgbClr val="102A43"/>
                </a:solidFill>
                <a:latin typeface="Aptos" pitchFamily="34" charset="0"/>
                <a:ea typeface="Aptos" pitchFamily="34" charset="-122"/>
                <a:cs typeface="Aptos" pitchFamily="34" charset="-120"/>
              </a:rPr>
              <a:t>1. Signal</a:t>
            </a:r>
            <a:endParaRPr lang="en-US" sz="1570" dirty="0"/>
          </a:p>
        </p:txBody>
      </p:sp>
      <p:sp>
        <p:nvSpPr>
          <p:cNvPr id="10" name="Text 8"/>
          <p:cNvSpPr/>
          <p:nvPr/>
        </p:nvSpPr>
        <p:spPr>
          <a:xfrm>
            <a:off x="3127248" y="1527048"/>
            <a:ext cx="8046720" cy="356616"/>
          </a:xfrm>
          <a:prstGeom prst="rect">
            <a:avLst/>
          </a:prstGeom>
          <a:noFill/>
          <a:ln/>
        </p:spPr>
        <p:txBody>
          <a:bodyPr wrap="square" lIns="0" tIns="0" rIns="0" bIns="0" rtlCol="0" anchor="ctr">
            <a:normAutofit/>
          </a:bodyPr>
          <a:lstStyle/>
          <a:p>
            <a:pPr marL="0" indent="0" algn="l">
              <a:buNone/>
            </a:pPr>
            <a:r>
              <a:rPr lang="en-US" sz="1540" dirty="0">
                <a:solidFill>
                  <a:srgbClr val="203248"/>
                </a:solidFill>
                <a:latin typeface="Aptos" pitchFamily="34" charset="0"/>
                <a:ea typeface="Aptos" pitchFamily="34" charset="-122"/>
                <a:cs typeface="Aptos" pitchFamily="34" charset="-120"/>
              </a:rPr>
              <a:t>Sensor sequence differs from normal</a:t>
            </a:r>
            <a:endParaRPr lang="en-US" sz="1540" dirty="0"/>
          </a:p>
        </p:txBody>
      </p:sp>
      <p:sp>
        <p:nvSpPr>
          <p:cNvPr id="11" name="Shape 9"/>
          <p:cNvSpPr/>
          <p:nvPr/>
        </p:nvSpPr>
        <p:spPr>
          <a:xfrm>
            <a:off x="722376" y="2203704"/>
            <a:ext cx="10689336" cy="658368"/>
          </a:xfrm>
          <a:prstGeom prst="roundRect">
            <a:avLst>
              <a:gd name="adj" fmla="val 16667"/>
            </a:avLst>
          </a:prstGeom>
          <a:solidFill>
            <a:srgbClr val="EAF7F6"/>
          </a:solidFill>
          <a:ln w="12700">
            <a:solidFill>
              <a:srgbClr val="DCE5EC"/>
            </a:solidFill>
            <a:prstDash val="solid"/>
          </a:ln>
        </p:spPr>
        <p:txBody>
          <a:bodyPr/>
          <a:lstStyle/>
          <a:p>
            <a:endParaRPr lang="en-IN"/>
          </a:p>
        </p:txBody>
      </p:sp>
      <p:sp>
        <p:nvSpPr>
          <p:cNvPr id="12" name="Text 10"/>
          <p:cNvSpPr/>
          <p:nvPr/>
        </p:nvSpPr>
        <p:spPr>
          <a:xfrm>
            <a:off x="950976" y="2313432"/>
            <a:ext cx="2057400" cy="365760"/>
          </a:xfrm>
          <a:prstGeom prst="rect">
            <a:avLst/>
          </a:prstGeom>
          <a:noFill/>
          <a:ln/>
        </p:spPr>
        <p:txBody>
          <a:bodyPr wrap="square" lIns="0" tIns="0" rIns="0" bIns="0" rtlCol="0" anchor="ctr">
            <a:normAutofit/>
          </a:bodyPr>
          <a:lstStyle/>
          <a:p>
            <a:pPr marL="0" indent="0" algn="l">
              <a:buNone/>
            </a:pPr>
            <a:r>
              <a:rPr lang="en-US" sz="1570" b="1" dirty="0">
                <a:solidFill>
                  <a:srgbClr val="102A43"/>
                </a:solidFill>
                <a:latin typeface="Aptos" pitchFamily="34" charset="0"/>
                <a:ea typeface="Aptos" pitchFamily="34" charset="-122"/>
                <a:cs typeface="Aptos" pitchFamily="34" charset="-120"/>
              </a:rPr>
              <a:t>2. Health</a:t>
            </a:r>
            <a:endParaRPr lang="en-US" sz="1570" dirty="0"/>
          </a:p>
        </p:txBody>
      </p:sp>
      <p:sp>
        <p:nvSpPr>
          <p:cNvPr id="13" name="Text 11"/>
          <p:cNvSpPr/>
          <p:nvPr/>
        </p:nvSpPr>
        <p:spPr>
          <a:xfrm>
            <a:off x="3127248" y="2313432"/>
            <a:ext cx="8046720" cy="356616"/>
          </a:xfrm>
          <a:prstGeom prst="rect">
            <a:avLst/>
          </a:prstGeom>
          <a:noFill/>
          <a:ln/>
        </p:spPr>
        <p:txBody>
          <a:bodyPr wrap="square" lIns="0" tIns="0" rIns="0" bIns="0" rtlCol="0" anchor="ctr">
            <a:normAutofit/>
          </a:bodyPr>
          <a:lstStyle/>
          <a:p>
            <a:pPr marL="0" indent="0" algn="l">
              <a:buNone/>
            </a:pPr>
            <a:r>
              <a:rPr lang="en-US" sz="1540" dirty="0">
                <a:solidFill>
                  <a:srgbClr val="203248"/>
                </a:solidFill>
                <a:latin typeface="Aptos" pitchFamily="34" charset="0"/>
                <a:ea typeface="Aptos" pitchFamily="34" charset="-122"/>
                <a:cs typeface="Aptos" pitchFamily="34" charset="-120"/>
              </a:rPr>
              <a:t>COMP_01 DAHI = 39.66 → critical</a:t>
            </a:r>
            <a:endParaRPr lang="en-US" sz="1540" dirty="0"/>
          </a:p>
        </p:txBody>
      </p:sp>
      <p:sp>
        <p:nvSpPr>
          <p:cNvPr id="14" name="Shape 12"/>
          <p:cNvSpPr/>
          <p:nvPr/>
        </p:nvSpPr>
        <p:spPr>
          <a:xfrm>
            <a:off x="722376" y="2990088"/>
            <a:ext cx="10689336" cy="658368"/>
          </a:xfrm>
          <a:prstGeom prst="roundRect">
            <a:avLst>
              <a:gd name="adj" fmla="val 16667"/>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950976" y="3099816"/>
            <a:ext cx="2057400" cy="365760"/>
          </a:xfrm>
          <a:prstGeom prst="rect">
            <a:avLst/>
          </a:prstGeom>
          <a:noFill/>
          <a:ln/>
        </p:spPr>
        <p:txBody>
          <a:bodyPr wrap="square" lIns="0" tIns="0" rIns="0" bIns="0" rtlCol="0" anchor="ctr">
            <a:normAutofit/>
          </a:bodyPr>
          <a:lstStyle/>
          <a:p>
            <a:pPr marL="0" indent="0" algn="l">
              <a:buNone/>
            </a:pPr>
            <a:r>
              <a:rPr lang="en-US" sz="1570" b="1" dirty="0">
                <a:solidFill>
                  <a:srgbClr val="102A43"/>
                </a:solidFill>
                <a:latin typeface="Aptos" pitchFamily="34" charset="0"/>
                <a:ea typeface="Aptos" pitchFamily="34" charset="-122"/>
                <a:cs typeface="Aptos" pitchFamily="34" charset="-120"/>
              </a:rPr>
              <a:t>3. Ranking</a:t>
            </a:r>
            <a:endParaRPr lang="en-US" sz="1570" dirty="0"/>
          </a:p>
        </p:txBody>
      </p:sp>
      <p:sp>
        <p:nvSpPr>
          <p:cNvPr id="16" name="Text 14"/>
          <p:cNvSpPr/>
          <p:nvPr/>
        </p:nvSpPr>
        <p:spPr>
          <a:xfrm>
            <a:off x="3127248" y="3099816"/>
            <a:ext cx="8046720" cy="356616"/>
          </a:xfrm>
          <a:prstGeom prst="rect">
            <a:avLst/>
          </a:prstGeom>
          <a:noFill/>
          <a:ln/>
        </p:spPr>
        <p:txBody>
          <a:bodyPr wrap="square" lIns="0" tIns="0" rIns="0" bIns="0" rtlCol="0" anchor="ctr">
            <a:normAutofit/>
          </a:bodyPr>
          <a:lstStyle/>
          <a:p>
            <a:pPr marL="0" indent="0" algn="l">
              <a:buNone/>
            </a:pPr>
            <a:r>
              <a:rPr lang="en-US" sz="1540" dirty="0">
                <a:solidFill>
                  <a:srgbClr val="203248"/>
                </a:solidFill>
                <a:latin typeface="Aptos" pitchFamily="34" charset="0"/>
                <a:ea typeface="Aptos" pitchFamily="34" charset="-122"/>
                <a:cs typeface="Aptos" pitchFamily="34" charset="-120"/>
              </a:rPr>
              <a:t>MAPE = 84.1 → high attention</a:t>
            </a:r>
            <a:endParaRPr lang="en-US" sz="1540" dirty="0"/>
          </a:p>
        </p:txBody>
      </p:sp>
      <p:sp>
        <p:nvSpPr>
          <p:cNvPr id="17" name="Shape 15"/>
          <p:cNvSpPr/>
          <p:nvPr/>
        </p:nvSpPr>
        <p:spPr>
          <a:xfrm>
            <a:off x="722376" y="3776472"/>
            <a:ext cx="10689336" cy="658368"/>
          </a:xfrm>
          <a:prstGeom prst="roundRect">
            <a:avLst>
              <a:gd name="adj" fmla="val 16667"/>
            </a:avLst>
          </a:prstGeom>
          <a:solidFill>
            <a:srgbClr val="EAF7F6"/>
          </a:solidFill>
          <a:ln w="12700">
            <a:solidFill>
              <a:srgbClr val="DCE5EC"/>
            </a:solidFill>
            <a:prstDash val="solid"/>
          </a:ln>
        </p:spPr>
        <p:txBody>
          <a:bodyPr/>
          <a:lstStyle/>
          <a:p>
            <a:endParaRPr lang="en-IN"/>
          </a:p>
        </p:txBody>
      </p:sp>
      <p:sp>
        <p:nvSpPr>
          <p:cNvPr id="18" name="Text 16"/>
          <p:cNvSpPr/>
          <p:nvPr/>
        </p:nvSpPr>
        <p:spPr>
          <a:xfrm>
            <a:off x="950976" y="3886200"/>
            <a:ext cx="2057400" cy="365760"/>
          </a:xfrm>
          <a:prstGeom prst="rect">
            <a:avLst/>
          </a:prstGeom>
          <a:noFill/>
          <a:ln/>
        </p:spPr>
        <p:txBody>
          <a:bodyPr wrap="square" lIns="0" tIns="0" rIns="0" bIns="0" rtlCol="0" anchor="ctr">
            <a:normAutofit/>
          </a:bodyPr>
          <a:lstStyle/>
          <a:p>
            <a:pPr marL="0" indent="0" algn="l">
              <a:buNone/>
            </a:pPr>
            <a:r>
              <a:rPr lang="en-US" sz="1570" b="1" dirty="0">
                <a:solidFill>
                  <a:srgbClr val="102A43"/>
                </a:solidFill>
                <a:latin typeface="Aptos" pitchFamily="34" charset="0"/>
                <a:ea typeface="Aptos" pitchFamily="34" charset="-122"/>
                <a:cs typeface="Aptos" pitchFamily="34" charset="-120"/>
              </a:rPr>
              <a:t>4. Context</a:t>
            </a:r>
            <a:endParaRPr lang="en-US" sz="1570" dirty="0"/>
          </a:p>
        </p:txBody>
      </p:sp>
      <p:sp>
        <p:nvSpPr>
          <p:cNvPr id="19" name="Text 17"/>
          <p:cNvSpPr/>
          <p:nvPr/>
        </p:nvSpPr>
        <p:spPr>
          <a:xfrm>
            <a:off x="3127248" y="3886200"/>
            <a:ext cx="8046720" cy="356616"/>
          </a:xfrm>
          <a:prstGeom prst="rect">
            <a:avLst/>
          </a:prstGeom>
          <a:noFill/>
          <a:ln/>
        </p:spPr>
        <p:txBody>
          <a:bodyPr wrap="square" lIns="0" tIns="0" rIns="0" bIns="0" rtlCol="0" anchor="ctr">
            <a:normAutofit/>
          </a:bodyPr>
          <a:lstStyle/>
          <a:p>
            <a:pPr marL="0" indent="0" algn="l">
              <a:buNone/>
            </a:pPr>
            <a:r>
              <a:rPr lang="en-US" sz="1540" dirty="0">
                <a:solidFill>
                  <a:srgbClr val="203248"/>
                </a:solidFill>
                <a:latin typeface="Aptos" pitchFamily="34" charset="0"/>
                <a:ea typeface="Aptos" pitchFamily="34" charset="-122"/>
                <a:cs typeface="Aptos" pitchFamily="34" charset="-120"/>
              </a:rPr>
              <a:t>Weak H1 / oil-temperature health</a:t>
            </a:r>
            <a:endParaRPr lang="en-US" sz="1540" dirty="0"/>
          </a:p>
        </p:txBody>
      </p:sp>
      <p:sp>
        <p:nvSpPr>
          <p:cNvPr id="20" name="Shape 18"/>
          <p:cNvSpPr/>
          <p:nvPr/>
        </p:nvSpPr>
        <p:spPr>
          <a:xfrm>
            <a:off x="722376" y="4562856"/>
            <a:ext cx="10689336" cy="658368"/>
          </a:xfrm>
          <a:prstGeom prst="roundRect">
            <a:avLst>
              <a:gd name="adj" fmla="val 16667"/>
            </a:avLst>
          </a:prstGeom>
          <a:solidFill>
            <a:srgbClr val="FFFFFF"/>
          </a:solidFill>
          <a:ln w="12700">
            <a:solidFill>
              <a:srgbClr val="DCE5EC"/>
            </a:solidFill>
            <a:prstDash val="solid"/>
          </a:ln>
        </p:spPr>
        <p:txBody>
          <a:bodyPr/>
          <a:lstStyle/>
          <a:p>
            <a:endParaRPr lang="en-IN"/>
          </a:p>
        </p:txBody>
      </p:sp>
      <p:sp>
        <p:nvSpPr>
          <p:cNvPr id="21" name="Text 19"/>
          <p:cNvSpPr/>
          <p:nvPr/>
        </p:nvSpPr>
        <p:spPr>
          <a:xfrm>
            <a:off x="950976" y="4672584"/>
            <a:ext cx="2057400" cy="365760"/>
          </a:xfrm>
          <a:prstGeom prst="rect">
            <a:avLst/>
          </a:prstGeom>
          <a:noFill/>
          <a:ln/>
        </p:spPr>
        <p:txBody>
          <a:bodyPr wrap="square" lIns="0" tIns="0" rIns="0" bIns="0" rtlCol="0" anchor="ctr">
            <a:normAutofit/>
          </a:bodyPr>
          <a:lstStyle/>
          <a:p>
            <a:pPr marL="0" indent="0" algn="l">
              <a:buNone/>
            </a:pPr>
            <a:r>
              <a:rPr lang="en-US" sz="1570" b="1" dirty="0">
                <a:solidFill>
                  <a:srgbClr val="102A43"/>
                </a:solidFill>
                <a:latin typeface="Aptos" pitchFamily="34" charset="0"/>
                <a:ea typeface="Aptos" pitchFamily="34" charset="-122"/>
                <a:cs typeface="Aptos" pitchFamily="34" charset="-120"/>
              </a:rPr>
              <a:t>5. Next step</a:t>
            </a:r>
            <a:endParaRPr lang="en-US" sz="1570" dirty="0"/>
          </a:p>
        </p:txBody>
      </p:sp>
      <p:sp>
        <p:nvSpPr>
          <p:cNvPr id="22" name="Text 20"/>
          <p:cNvSpPr/>
          <p:nvPr/>
        </p:nvSpPr>
        <p:spPr>
          <a:xfrm>
            <a:off x="3127248" y="4672584"/>
            <a:ext cx="8046720" cy="356616"/>
          </a:xfrm>
          <a:prstGeom prst="rect">
            <a:avLst/>
          </a:prstGeom>
          <a:noFill/>
          <a:ln/>
        </p:spPr>
        <p:txBody>
          <a:bodyPr wrap="square" lIns="0" tIns="0" rIns="0" bIns="0" rtlCol="0" anchor="ctr">
            <a:normAutofit/>
          </a:bodyPr>
          <a:lstStyle/>
          <a:p>
            <a:pPr marL="0" indent="0" algn="l">
              <a:buNone/>
            </a:pPr>
            <a:r>
              <a:rPr lang="en-US" sz="1540" dirty="0">
                <a:solidFill>
                  <a:srgbClr val="203248"/>
                </a:solidFill>
                <a:latin typeface="Aptos" pitchFamily="34" charset="0"/>
                <a:ea typeface="Aptos" pitchFamily="34" charset="-122"/>
                <a:cs typeface="Aptos" pitchFamily="34" charset="-120"/>
              </a:rPr>
              <a:t>Review matched rules and inspect safely</a:t>
            </a:r>
            <a:endParaRPr lang="en-US" sz="1540" dirty="0"/>
          </a:p>
        </p:txBody>
      </p:sp>
      <p:sp>
        <p:nvSpPr>
          <p:cNvPr id="23" name="Shape 21"/>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4" name="Text 22"/>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This is the central value of MaintainIQ: moving from detection to explainable action.</a:t>
            </a:r>
            <a:endParaRPr lang="en-US" sz="12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RESULTS — NOSQL</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Database evaluation: MongoDB versus MySQL</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58368" y="1545336"/>
            <a:ext cx="3493008"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9" name="Text 7"/>
          <p:cNvSpPr/>
          <p:nvPr/>
        </p:nvSpPr>
        <p:spPr>
          <a:xfrm>
            <a:off x="822960" y="1709928"/>
            <a:ext cx="3163824"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72.2%</a:t>
            </a:r>
            <a:endParaRPr lang="en-US" sz="3700" dirty="0"/>
          </a:p>
        </p:txBody>
      </p:sp>
      <p:sp>
        <p:nvSpPr>
          <p:cNvPr id="10" name="Text 8"/>
          <p:cNvSpPr/>
          <p:nvPr/>
        </p:nvSpPr>
        <p:spPr>
          <a:xfrm>
            <a:off x="841248" y="2505456"/>
            <a:ext cx="3127248"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lower aggregation query latency in tested setup</a:t>
            </a:r>
            <a:endParaRPr lang="en-US" sz="1400" dirty="0"/>
          </a:p>
        </p:txBody>
      </p:sp>
      <p:sp>
        <p:nvSpPr>
          <p:cNvPr id="11" name="Shape 9"/>
          <p:cNvSpPr/>
          <p:nvPr/>
        </p:nvSpPr>
        <p:spPr>
          <a:xfrm>
            <a:off x="4370832" y="1545336"/>
            <a:ext cx="3493008"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2" name="Text 10"/>
          <p:cNvSpPr/>
          <p:nvPr/>
        </p:nvSpPr>
        <p:spPr>
          <a:xfrm>
            <a:off x="4535424" y="1709928"/>
            <a:ext cx="3163824"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99.9%</a:t>
            </a:r>
            <a:endParaRPr lang="en-US" sz="3700" dirty="0"/>
          </a:p>
        </p:txBody>
      </p:sp>
      <p:sp>
        <p:nvSpPr>
          <p:cNvPr id="13" name="Text 11"/>
          <p:cNvSpPr/>
          <p:nvPr/>
        </p:nvSpPr>
        <p:spPr>
          <a:xfrm>
            <a:off x="4553712" y="2505456"/>
            <a:ext cx="3127248"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lower schema-change time in tested setup</a:t>
            </a:r>
            <a:endParaRPr lang="en-US" sz="1400" dirty="0"/>
          </a:p>
        </p:txBody>
      </p:sp>
      <p:sp>
        <p:nvSpPr>
          <p:cNvPr id="14" name="Shape 12"/>
          <p:cNvSpPr/>
          <p:nvPr/>
        </p:nvSpPr>
        <p:spPr>
          <a:xfrm>
            <a:off x="8092440" y="1545336"/>
            <a:ext cx="3429000"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5" name="Text 13"/>
          <p:cNvSpPr/>
          <p:nvPr/>
        </p:nvSpPr>
        <p:spPr>
          <a:xfrm>
            <a:off x="8257032" y="1709928"/>
            <a:ext cx="3099816" cy="713232"/>
          </a:xfrm>
          <a:prstGeom prst="rect">
            <a:avLst/>
          </a:prstGeom>
          <a:noFill/>
          <a:ln/>
        </p:spPr>
        <p:txBody>
          <a:bodyPr wrap="square" lIns="0" tIns="0" rIns="0" bIns="0" rtlCol="0" anchor="ctr">
            <a:normAutofit/>
          </a:bodyPr>
          <a:lstStyle/>
          <a:p>
            <a:pPr marL="0" indent="0" algn="l">
              <a:buNone/>
            </a:pPr>
            <a:r>
              <a:rPr lang="en-US" sz="3700" b="1" dirty="0">
                <a:solidFill>
                  <a:srgbClr val="12A39B"/>
                </a:solidFill>
                <a:latin typeface="Aptos" pitchFamily="34" charset="0"/>
                <a:ea typeface="Aptos" pitchFamily="34" charset="-122"/>
                <a:cs typeface="Aptos" pitchFamily="34" charset="-120"/>
              </a:rPr>
              <a:t>31%</a:t>
            </a:r>
            <a:endParaRPr lang="en-US" sz="3700" dirty="0"/>
          </a:p>
        </p:txBody>
      </p:sp>
      <p:sp>
        <p:nvSpPr>
          <p:cNvPr id="16" name="Text 14"/>
          <p:cNvSpPr/>
          <p:nvPr/>
        </p:nvSpPr>
        <p:spPr>
          <a:xfrm>
            <a:off x="8275320" y="2505456"/>
            <a:ext cx="3063240" cy="393192"/>
          </a:xfrm>
          <a:prstGeom prst="rect">
            <a:avLst/>
          </a:prstGeom>
          <a:noFill/>
          <a:ln/>
        </p:spPr>
        <p:txBody>
          <a:bodyPr wrap="square" lIns="0" tIns="0" rIns="0" bIns="0" rtlCol="0" anchor="ctr">
            <a:normAutofit/>
          </a:bodyPr>
          <a:lstStyle/>
          <a:p>
            <a:pPr marL="0" indent="0" algn="l">
              <a:buNone/>
            </a:pPr>
            <a:r>
              <a:rPr lang="en-US" sz="1400" dirty="0">
                <a:solidFill>
                  <a:srgbClr val="637489"/>
                </a:solidFill>
                <a:latin typeface="Aptos" pitchFamily="34" charset="0"/>
                <a:ea typeface="Aptos" pitchFamily="34" charset="-122"/>
                <a:cs typeface="Aptos" pitchFamily="34" charset="-120"/>
              </a:rPr>
              <a:t>smaller storage footprint in tested setup</a:t>
            </a:r>
            <a:endParaRPr lang="en-US" sz="1400" dirty="0"/>
          </a:p>
        </p:txBody>
      </p:sp>
      <p:sp>
        <p:nvSpPr>
          <p:cNvPr id="17" name="Shape 15"/>
          <p:cNvSpPr/>
          <p:nvPr/>
        </p:nvSpPr>
        <p:spPr>
          <a:xfrm>
            <a:off x="795528" y="3675888"/>
            <a:ext cx="10588752" cy="1463040"/>
          </a:xfrm>
          <a:prstGeom prst="roundRect">
            <a:avLst>
              <a:gd name="adj" fmla="val 7500"/>
            </a:avLst>
          </a:prstGeom>
          <a:solidFill>
            <a:srgbClr val="FFFFFF"/>
          </a:solidFill>
          <a:ln w="12700">
            <a:solidFill>
              <a:srgbClr val="DCE5EC"/>
            </a:solidFill>
            <a:prstDash val="solid"/>
          </a:ln>
        </p:spPr>
        <p:txBody>
          <a:bodyPr/>
          <a:lstStyle/>
          <a:p>
            <a:endParaRPr lang="en-IN"/>
          </a:p>
        </p:txBody>
      </p:sp>
      <p:sp>
        <p:nvSpPr>
          <p:cNvPr id="18" name="Shape 16"/>
          <p:cNvSpPr/>
          <p:nvPr/>
        </p:nvSpPr>
        <p:spPr>
          <a:xfrm>
            <a:off x="795528" y="3675888"/>
            <a:ext cx="64008" cy="1463040"/>
          </a:xfrm>
          <a:prstGeom prst="rect">
            <a:avLst/>
          </a:prstGeom>
          <a:solidFill>
            <a:srgbClr val="F7B84B"/>
          </a:solidFill>
          <a:ln w="12700">
            <a:solidFill>
              <a:srgbClr val="F7B84B"/>
            </a:solidFill>
            <a:prstDash val="solid"/>
          </a:ln>
        </p:spPr>
        <p:txBody>
          <a:bodyPr/>
          <a:lstStyle/>
          <a:p>
            <a:endParaRPr lang="en-IN"/>
          </a:p>
        </p:txBody>
      </p:sp>
      <p:sp>
        <p:nvSpPr>
          <p:cNvPr id="19" name="Text 17"/>
          <p:cNvSpPr/>
          <p:nvPr/>
        </p:nvSpPr>
        <p:spPr>
          <a:xfrm>
            <a:off x="1005840" y="3831336"/>
            <a:ext cx="1017727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How to interpret the comparison</a:t>
            </a:r>
            <a:endParaRPr lang="en-US" sz="1600" dirty="0"/>
          </a:p>
        </p:txBody>
      </p:sp>
      <p:sp>
        <p:nvSpPr>
          <p:cNvPr id="20" name="Text 18"/>
          <p:cNvSpPr/>
          <p:nvPr/>
        </p:nvSpPr>
        <p:spPr>
          <a:xfrm>
            <a:off x="1005840" y="4242816"/>
            <a:ext cx="10168128" cy="79552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These measured percentages apply to the chosen workload and configuration; they do not mean MongoDB is always faster than MySQL.</a:t>
            </a:r>
            <a:endParaRPr lang="en-US" sz="1340" dirty="0"/>
          </a:p>
        </p:txBody>
      </p:sp>
      <p:sp>
        <p:nvSpPr>
          <p:cNvPr id="21" name="Shape 19"/>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2" name="Text 20"/>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MongoDB offered advantages for the evaluated flexible sensor/time-series workload.</a:t>
            </a:r>
            <a:endParaRPr lang="en-US" sz="12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PROJECT OUTCOME</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What the project achieved</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30936" y="1444752"/>
            <a:ext cx="5422392"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30936" y="1444752"/>
            <a:ext cx="64008" cy="1828800"/>
          </a:xfrm>
          <a:prstGeom prst="rect">
            <a:avLst/>
          </a:prstGeom>
          <a:solidFill>
            <a:srgbClr val="147D92"/>
          </a:solidFill>
          <a:ln w="12700">
            <a:solidFill>
              <a:srgbClr val="147D92"/>
            </a:solidFill>
            <a:prstDash val="solid"/>
          </a:ln>
        </p:spPr>
        <p:txBody>
          <a:bodyPr/>
          <a:lstStyle/>
          <a:p>
            <a:endParaRPr lang="en-IN"/>
          </a:p>
        </p:txBody>
      </p:sp>
      <p:sp>
        <p:nvSpPr>
          <p:cNvPr id="10" name="Text 8"/>
          <p:cNvSpPr/>
          <p:nvPr/>
        </p:nvSpPr>
        <p:spPr>
          <a:xfrm>
            <a:off x="841248" y="1600200"/>
            <a:ext cx="501091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Technical outcome</a:t>
            </a:r>
            <a:endParaRPr lang="en-US" sz="1600" dirty="0"/>
          </a:p>
        </p:txBody>
      </p:sp>
      <p:sp>
        <p:nvSpPr>
          <p:cNvPr id="11" name="Text 9"/>
          <p:cNvSpPr/>
          <p:nvPr/>
        </p:nvSpPr>
        <p:spPr>
          <a:xfrm>
            <a:off x="841248" y="2011680"/>
            <a:ext cx="5001768"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A unified pipeline for time-series storage, LSTM anomaly detection and database-native health analytics.</a:t>
            </a:r>
            <a:endParaRPr lang="en-US" sz="1340" dirty="0"/>
          </a:p>
        </p:txBody>
      </p:sp>
      <p:sp>
        <p:nvSpPr>
          <p:cNvPr id="12" name="Shape 10"/>
          <p:cNvSpPr/>
          <p:nvPr/>
        </p:nvSpPr>
        <p:spPr>
          <a:xfrm>
            <a:off x="6217920" y="1444752"/>
            <a:ext cx="5285232"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217920" y="1444752"/>
            <a:ext cx="64008" cy="1828800"/>
          </a:xfrm>
          <a:prstGeom prst="rect">
            <a:avLst/>
          </a:prstGeom>
          <a:solidFill>
            <a:srgbClr val="12A39B"/>
          </a:solidFill>
          <a:ln w="12700">
            <a:solidFill>
              <a:srgbClr val="12A39B"/>
            </a:solidFill>
            <a:prstDash val="solid"/>
          </a:ln>
        </p:spPr>
        <p:txBody>
          <a:bodyPr/>
          <a:lstStyle/>
          <a:p>
            <a:endParaRPr lang="en-IN"/>
          </a:p>
        </p:txBody>
      </p:sp>
      <p:sp>
        <p:nvSpPr>
          <p:cNvPr id="14" name="Text 12"/>
          <p:cNvSpPr/>
          <p:nvPr/>
        </p:nvSpPr>
        <p:spPr>
          <a:xfrm>
            <a:off x="6428232" y="1600200"/>
            <a:ext cx="487375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Decision outcome</a:t>
            </a:r>
            <a:endParaRPr lang="en-US" sz="1600" dirty="0"/>
          </a:p>
        </p:txBody>
      </p:sp>
      <p:sp>
        <p:nvSpPr>
          <p:cNvPr id="15" name="Text 13"/>
          <p:cNvSpPr/>
          <p:nvPr/>
        </p:nvSpPr>
        <p:spPr>
          <a:xfrm>
            <a:off x="6428232" y="2011680"/>
            <a:ext cx="4864608"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A numeric asset health score, ranked maintenance queue and understandable rule-based explanations.</a:t>
            </a:r>
            <a:endParaRPr lang="en-US" sz="1340" dirty="0"/>
          </a:p>
        </p:txBody>
      </p:sp>
      <p:sp>
        <p:nvSpPr>
          <p:cNvPr id="16" name="Shape 14"/>
          <p:cNvSpPr/>
          <p:nvPr/>
        </p:nvSpPr>
        <p:spPr>
          <a:xfrm>
            <a:off x="630936" y="3465576"/>
            <a:ext cx="5422392"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17" name="Shape 15"/>
          <p:cNvSpPr/>
          <p:nvPr/>
        </p:nvSpPr>
        <p:spPr>
          <a:xfrm>
            <a:off x="630936" y="3465576"/>
            <a:ext cx="64008" cy="1828800"/>
          </a:xfrm>
          <a:prstGeom prst="rect">
            <a:avLst/>
          </a:prstGeom>
          <a:solidFill>
            <a:srgbClr val="147D92"/>
          </a:solidFill>
          <a:ln w="12700">
            <a:solidFill>
              <a:srgbClr val="147D92"/>
            </a:solidFill>
            <a:prstDash val="solid"/>
          </a:ln>
        </p:spPr>
        <p:txBody>
          <a:bodyPr/>
          <a:lstStyle/>
          <a:p>
            <a:endParaRPr lang="en-IN"/>
          </a:p>
        </p:txBody>
      </p:sp>
      <p:sp>
        <p:nvSpPr>
          <p:cNvPr id="18" name="Text 16"/>
          <p:cNvSpPr/>
          <p:nvPr/>
        </p:nvSpPr>
        <p:spPr>
          <a:xfrm>
            <a:off x="841248" y="3621024"/>
            <a:ext cx="501091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User-facing outcome</a:t>
            </a:r>
            <a:endParaRPr lang="en-US" sz="1600" dirty="0"/>
          </a:p>
        </p:txBody>
      </p:sp>
      <p:sp>
        <p:nvSpPr>
          <p:cNvPr id="19" name="Text 17"/>
          <p:cNvSpPr/>
          <p:nvPr/>
        </p:nvSpPr>
        <p:spPr>
          <a:xfrm>
            <a:off x="841248" y="4032504"/>
            <a:ext cx="5001768"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A dashboard and natural-language interface concept for finding health, priorities and sensor context.</a:t>
            </a:r>
            <a:endParaRPr lang="en-US" sz="1340" dirty="0"/>
          </a:p>
        </p:txBody>
      </p:sp>
      <p:sp>
        <p:nvSpPr>
          <p:cNvPr id="20" name="Shape 18"/>
          <p:cNvSpPr/>
          <p:nvPr/>
        </p:nvSpPr>
        <p:spPr>
          <a:xfrm>
            <a:off x="6217920" y="3465576"/>
            <a:ext cx="5285232"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21" name="Shape 19"/>
          <p:cNvSpPr/>
          <p:nvPr/>
        </p:nvSpPr>
        <p:spPr>
          <a:xfrm>
            <a:off x="6217920" y="3465576"/>
            <a:ext cx="64008" cy="1828800"/>
          </a:xfrm>
          <a:prstGeom prst="rect">
            <a:avLst/>
          </a:prstGeom>
          <a:solidFill>
            <a:srgbClr val="12A39B"/>
          </a:solidFill>
          <a:ln w="12700">
            <a:solidFill>
              <a:srgbClr val="12A39B"/>
            </a:solidFill>
            <a:prstDash val="solid"/>
          </a:ln>
        </p:spPr>
        <p:txBody>
          <a:bodyPr/>
          <a:lstStyle/>
          <a:p>
            <a:endParaRPr lang="en-IN"/>
          </a:p>
        </p:txBody>
      </p:sp>
      <p:sp>
        <p:nvSpPr>
          <p:cNvPr id="22" name="Text 20"/>
          <p:cNvSpPr/>
          <p:nvPr/>
        </p:nvSpPr>
        <p:spPr>
          <a:xfrm>
            <a:off x="6428232" y="3621024"/>
            <a:ext cx="4873752"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Evidence shown</a:t>
            </a:r>
            <a:endParaRPr lang="en-US" sz="1600" dirty="0"/>
          </a:p>
        </p:txBody>
      </p:sp>
      <p:sp>
        <p:nvSpPr>
          <p:cNvPr id="23" name="Text 21"/>
          <p:cNvSpPr/>
          <p:nvPr/>
        </p:nvSpPr>
        <p:spPr>
          <a:xfrm>
            <a:off x="6428232" y="4032504"/>
            <a:ext cx="4864608"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Best F1 0.9869; maximum AUC 0.999; COMP_01 DAHI 39.66; priority 84.1; scoped DB benchmarks.</a:t>
            </a:r>
            <a:endParaRPr lang="en-US" sz="1340" dirty="0"/>
          </a:p>
        </p:txBody>
      </p:sp>
      <p:sp>
        <p:nvSpPr>
          <p:cNvPr id="24" name="Shape 22"/>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5" name="Text 23"/>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Success means more useful maintenance intelligence—not just a high F1-score.</a:t>
            </a:r>
            <a:endParaRPr lang="en-US" sz="12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LIMITATIONS</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What remains to validate</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21792" y="1499616"/>
            <a:ext cx="5404104" cy="1901952"/>
          </a:xfrm>
          <a:prstGeom prst="roundRect">
            <a:avLst>
              <a:gd name="adj" fmla="val 5769"/>
            </a:avLst>
          </a:prstGeom>
          <a:solidFill>
            <a:srgbClr val="FFFFFF"/>
          </a:solidFill>
          <a:ln w="12700">
            <a:solidFill>
              <a:srgbClr val="DCE5EC"/>
            </a:solidFill>
            <a:prstDash val="solid"/>
          </a:ln>
        </p:spPr>
        <p:txBody>
          <a:bodyPr/>
          <a:lstStyle/>
          <a:p>
            <a:endParaRPr lang="en-IN"/>
          </a:p>
        </p:txBody>
      </p:sp>
      <p:sp>
        <p:nvSpPr>
          <p:cNvPr id="9" name="Shape 7"/>
          <p:cNvSpPr/>
          <p:nvPr/>
        </p:nvSpPr>
        <p:spPr>
          <a:xfrm>
            <a:off x="621792" y="1499616"/>
            <a:ext cx="64008" cy="1901952"/>
          </a:xfrm>
          <a:prstGeom prst="rect">
            <a:avLst/>
          </a:prstGeom>
          <a:solidFill>
            <a:srgbClr val="F7B84B"/>
          </a:solidFill>
          <a:ln w="12700">
            <a:solidFill>
              <a:srgbClr val="F7B84B"/>
            </a:solidFill>
            <a:prstDash val="solid"/>
          </a:ln>
        </p:spPr>
        <p:txBody>
          <a:bodyPr/>
          <a:lstStyle/>
          <a:p>
            <a:endParaRPr lang="en-IN"/>
          </a:p>
        </p:txBody>
      </p:sp>
      <p:sp>
        <p:nvSpPr>
          <p:cNvPr id="10" name="Text 8"/>
          <p:cNvSpPr/>
          <p:nvPr/>
        </p:nvSpPr>
        <p:spPr>
          <a:xfrm>
            <a:off x="832104" y="1655064"/>
            <a:ext cx="4992624"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Dataset limitation</a:t>
            </a:r>
            <a:endParaRPr lang="en-US" sz="1600" dirty="0"/>
          </a:p>
        </p:txBody>
      </p:sp>
      <p:sp>
        <p:nvSpPr>
          <p:cNvPr id="11" name="Text 9"/>
          <p:cNvSpPr/>
          <p:nvPr/>
        </p:nvSpPr>
        <p:spPr>
          <a:xfrm>
            <a:off x="832104" y="2066544"/>
            <a:ext cx="4983480" cy="1234440"/>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One APU, four documented failure events; broader generalization requires other assets and failure types.</a:t>
            </a:r>
            <a:endParaRPr lang="en-US" sz="1340" dirty="0"/>
          </a:p>
        </p:txBody>
      </p:sp>
      <p:sp>
        <p:nvSpPr>
          <p:cNvPr id="12" name="Shape 10"/>
          <p:cNvSpPr/>
          <p:nvPr/>
        </p:nvSpPr>
        <p:spPr>
          <a:xfrm>
            <a:off x="6208776" y="1499616"/>
            <a:ext cx="5294376" cy="1901952"/>
          </a:xfrm>
          <a:prstGeom prst="roundRect">
            <a:avLst>
              <a:gd name="adj" fmla="val 5769"/>
            </a:avLst>
          </a:prstGeom>
          <a:solidFill>
            <a:srgbClr val="FFFFFF"/>
          </a:solidFill>
          <a:ln w="12700">
            <a:solidFill>
              <a:srgbClr val="DCE5EC"/>
            </a:solidFill>
            <a:prstDash val="solid"/>
          </a:ln>
        </p:spPr>
        <p:txBody>
          <a:bodyPr/>
          <a:lstStyle/>
          <a:p>
            <a:endParaRPr lang="en-IN"/>
          </a:p>
        </p:txBody>
      </p:sp>
      <p:sp>
        <p:nvSpPr>
          <p:cNvPr id="13" name="Shape 11"/>
          <p:cNvSpPr/>
          <p:nvPr/>
        </p:nvSpPr>
        <p:spPr>
          <a:xfrm>
            <a:off x="6208776" y="1499616"/>
            <a:ext cx="64008" cy="1901952"/>
          </a:xfrm>
          <a:prstGeom prst="rect">
            <a:avLst/>
          </a:prstGeom>
          <a:solidFill>
            <a:srgbClr val="F7B84B"/>
          </a:solidFill>
          <a:ln w="12700">
            <a:solidFill>
              <a:srgbClr val="F7B84B"/>
            </a:solidFill>
            <a:prstDash val="solid"/>
          </a:ln>
        </p:spPr>
        <p:txBody>
          <a:bodyPr/>
          <a:lstStyle/>
          <a:p>
            <a:endParaRPr lang="en-IN"/>
          </a:p>
        </p:txBody>
      </p:sp>
      <p:sp>
        <p:nvSpPr>
          <p:cNvPr id="14" name="Text 12"/>
          <p:cNvSpPr/>
          <p:nvPr/>
        </p:nvSpPr>
        <p:spPr>
          <a:xfrm>
            <a:off x="6419088" y="1655064"/>
            <a:ext cx="488289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Model reproducibility</a:t>
            </a:r>
            <a:endParaRPr lang="en-US" sz="1600" dirty="0"/>
          </a:p>
        </p:txBody>
      </p:sp>
      <p:sp>
        <p:nvSpPr>
          <p:cNvPr id="15" name="Text 13"/>
          <p:cNvSpPr/>
          <p:nvPr/>
        </p:nvSpPr>
        <p:spPr>
          <a:xfrm>
            <a:off x="6419088" y="2066544"/>
            <a:ext cx="4873752" cy="1234440"/>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Training splits and final layer definition should be checked against the executed configuration.</a:t>
            </a:r>
            <a:endParaRPr lang="en-US" sz="1340" dirty="0"/>
          </a:p>
        </p:txBody>
      </p:sp>
      <p:sp>
        <p:nvSpPr>
          <p:cNvPr id="16" name="Shape 14"/>
          <p:cNvSpPr/>
          <p:nvPr/>
        </p:nvSpPr>
        <p:spPr>
          <a:xfrm>
            <a:off x="621792" y="3639312"/>
            <a:ext cx="5404104"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17" name="Shape 15"/>
          <p:cNvSpPr/>
          <p:nvPr/>
        </p:nvSpPr>
        <p:spPr>
          <a:xfrm>
            <a:off x="621792" y="3639312"/>
            <a:ext cx="64008" cy="1828800"/>
          </a:xfrm>
          <a:prstGeom prst="rect">
            <a:avLst/>
          </a:prstGeom>
          <a:solidFill>
            <a:srgbClr val="F7B84B"/>
          </a:solidFill>
          <a:ln w="12700">
            <a:solidFill>
              <a:srgbClr val="F7B84B"/>
            </a:solidFill>
            <a:prstDash val="solid"/>
          </a:ln>
        </p:spPr>
        <p:txBody>
          <a:bodyPr/>
          <a:lstStyle/>
          <a:p>
            <a:endParaRPr lang="en-IN"/>
          </a:p>
        </p:txBody>
      </p:sp>
      <p:sp>
        <p:nvSpPr>
          <p:cNvPr id="18" name="Text 16"/>
          <p:cNvSpPr/>
          <p:nvPr/>
        </p:nvSpPr>
        <p:spPr>
          <a:xfrm>
            <a:off x="832104" y="3794760"/>
            <a:ext cx="4992624"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Decision support validation</a:t>
            </a:r>
            <a:endParaRPr lang="en-US" sz="1600" dirty="0"/>
          </a:p>
        </p:txBody>
      </p:sp>
      <p:sp>
        <p:nvSpPr>
          <p:cNvPr id="19" name="Text 17"/>
          <p:cNvSpPr/>
          <p:nvPr/>
        </p:nvSpPr>
        <p:spPr>
          <a:xfrm>
            <a:off x="832104" y="4206240"/>
            <a:ext cx="4983480"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Rule recommendations and maintenance ranking need technician-led evaluation.</a:t>
            </a:r>
            <a:endParaRPr lang="en-US" sz="1340" dirty="0"/>
          </a:p>
        </p:txBody>
      </p:sp>
      <p:sp>
        <p:nvSpPr>
          <p:cNvPr id="20" name="Shape 18"/>
          <p:cNvSpPr/>
          <p:nvPr/>
        </p:nvSpPr>
        <p:spPr>
          <a:xfrm>
            <a:off x="6208776" y="3639312"/>
            <a:ext cx="5294376" cy="1828800"/>
          </a:xfrm>
          <a:prstGeom prst="roundRect">
            <a:avLst>
              <a:gd name="adj" fmla="val 6000"/>
            </a:avLst>
          </a:prstGeom>
          <a:solidFill>
            <a:srgbClr val="FFFFFF"/>
          </a:solidFill>
          <a:ln w="12700">
            <a:solidFill>
              <a:srgbClr val="DCE5EC"/>
            </a:solidFill>
            <a:prstDash val="solid"/>
          </a:ln>
        </p:spPr>
        <p:txBody>
          <a:bodyPr/>
          <a:lstStyle/>
          <a:p>
            <a:endParaRPr lang="en-IN"/>
          </a:p>
        </p:txBody>
      </p:sp>
      <p:sp>
        <p:nvSpPr>
          <p:cNvPr id="21" name="Shape 19"/>
          <p:cNvSpPr/>
          <p:nvPr/>
        </p:nvSpPr>
        <p:spPr>
          <a:xfrm>
            <a:off x="6208776" y="3639312"/>
            <a:ext cx="64008" cy="1828800"/>
          </a:xfrm>
          <a:prstGeom prst="rect">
            <a:avLst/>
          </a:prstGeom>
          <a:solidFill>
            <a:srgbClr val="F7B84B"/>
          </a:solidFill>
          <a:ln w="12700">
            <a:solidFill>
              <a:srgbClr val="F7B84B"/>
            </a:solidFill>
            <a:prstDash val="solid"/>
          </a:ln>
        </p:spPr>
        <p:txBody>
          <a:bodyPr/>
          <a:lstStyle/>
          <a:p>
            <a:endParaRPr lang="en-IN"/>
          </a:p>
        </p:txBody>
      </p:sp>
      <p:sp>
        <p:nvSpPr>
          <p:cNvPr id="22" name="Text 20"/>
          <p:cNvSpPr/>
          <p:nvPr/>
        </p:nvSpPr>
        <p:spPr>
          <a:xfrm>
            <a:off x="6419088" y="3794760"/>
            <a:ext cx="4882896"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Operational impact</a:t>
            </a:r>
            <a:endParaRPr lang="en-US" sz="1600" dirty="0"/>
          </a:p>
        </p:txBody>
      </p:sp>
      <p:sp>
        <p:nvSpPr>
          <p:cNvPr id="23" name="Text 21"/>
          <p:cNvSpPr/>
          <p:nvPr/>
        </p:nvSpPr>
        <p:spPr>
          <a:xfrm>
            <a:off x="6419088" y="4206240"/>
            <a:ext cx="4873752" cy="116128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No controlled production study yet demonstrates reduced downtime or repair cost.</a:t>
            </a:r>
            <a:endParaRPr lang="en-US" sz="1340" dirty="0"/>
          </a:p>
        </p:txBody>
      </p:sp>
      <p:sp>
        <p:nvSpPr>
          <p:cNvPr id="24" name="Shape 22"/>
          <p:cNvSpPr/>
          <p:nvPr/>
        </p:nvSpPr>
        <p:spPr>
          <a:xfrm>
            <a:off x="548640" y="5815584"/>
            <a:ext cx="11064240" cy="493776"/>
          </a:xfrm>
          <a:prstGeom prst="roundRect">
            <a:avLst>
              <a:gd name="adj" fmla="val 22222"/>
            </a:avLst>
          </a:prstGeom>
          <a:solidFill>
            <a:srgbClr val="EAF7F6"/>
          </a:solidFill>
          <a:ln w="12700">
            <a:solidFill>
              <a:srgbClr val="EAF7F6"/>
            </a:solidFill>
            <a:prstDash val="solid"/>
          </a:ln>
        </p:spPr>
        <p:txBody>
          <a:bodyPr/>
          <a:lstStyle/>
          <a:p>
            <a:endParaRPr lang="en-IN"/>
          </a:p>
        </p:txBody>
      </p:sp>
      <p:sp>
        <p:nvSpPr>
          <p:cNvPr id="25" name="Text 23"/>
          <p:cNvSpPr/>
          <p:nvPr/>
        </p:nvSpPr>
        <p:spPr>
          <a:xfrm>
            <a:off x="749808" y="5916168"/>
            <a:ext cx="10744200" cy="265176"/>
          </a:xfrm>
          <a:prstGeom prst="rect">
            <a:avLst/>
          </a:prstGeom>
          <a:noFill/>
          <a:ln/>
        </p:spPr>
        <p:txBody>
          <a:bodyPr wrap="square" lIns="0" tIns="0" rIns="0" bIns="0" rtlCol="0" anchor="ctr">
            <a:normAutofit/>
          </a:bodyPr>
          <a:lstStyle/>
          <a:p>
            <a:pPr marL="0" indent="0" algn="l">
              <a:buNone/>
            </a:pPr>
            <a:r>
              <a:rPr lang="en-US" sz="1280" b="1" dirty="0">
                <a:solidFill>
                  <a:srgbClr val="102A43"/>
                </a:solidFill>
                <a:latin typeface="Aptos" pitchFamily="34" charset="0"/>
                <a:ea typeface="Aptos" pitchFamily="34" charset="-122"/>
                <a:cs typeface="Aptos" pitchFamily="34" charset="-120"/>
              </a:rPr>
              <a:t>WHY IT MATTERS  Future work is validation in diverse, real maintenance environments.</a:t>
            </a:r>
            <a:endParaRPr lang="en-US" sz="12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02A43"/>
          </a:solidFill>
          <a:ln w="12700">
            <a:solidFill>
              <a:srgbClr val="102A43">
                <a:alpha val="0"/>
              </a:srgbClr>
            </a:solidFill>
            <a:prstDash val="solid"/>
          </a:ln>
        </p:spPr>
        <p:txBody>
          <a:bodyPr/>
          <a:lstStyle/>
          <a:p>
            <a:endParaRPr lang="en-IN"/>
          </a:p>
        </p:txBody>
      </p:sp>
      <p:sp>
        <p:nvSpPr>
          <p:cNvPr id="3" name="Text 1"/>
          <p:cNvSpPr/>
          <p:nvPr/>
        </p:nvSpPr>
        <p:spPr>
          <a:xfrm>
            <a:off x="521208" y="329184"/>
            <a:ext cx="10058400" cy="219456"/>
          </a:xfrm>
          <a:prstGeom prst="rect">
            <a:avLst/>
          </a:prstGeom>
          <a:noFill/>
          <a:ln/>
        </p:spPr>
        <p:txBody>
          <a:bodyPr wrap="square" lIns="0" tIns="0" rIns="0" bIns="0" rtlCol="0" anchor="ctr">
            <a:normAutofit/>
          </a:bodyPr>
          <a:lstStyle/>
          <a:p>
            <a:pPr marL="0" indent="0" algn="l">
              <a:buNone/>
            </a:pPr>
            <a:r>
              <a:rPr lang="en-US" sz="1050" b="1" kern="0" spc="150" dirty="0">
                <a:solidFill>
                  <a:srgbClr val="147D92"/>
                </a:solidFill>
                <a:latin typeface="Aptos" pitchFamily="34" charset="0"/>
                <a:ea typeface="Aptos" pitchFamily="34" charset="-122"/>
                <a:cs typeface="Aptos" pitchFamily="34" charset="-120"/>
              </a:rPr>
              <a:t>CONCLUSION</a:t>
            </a:r>
            <a:endParaRPr lang="en-US" sz="1050" dirty="0"/>
          </a:p>
        </p:txBody>
      </p:sp>
      <p:sp>
        <p:nvSpPr>
          <p:cNvPr id="4" name="Text 2"/>
          <p:cNvSpPr/>
          <p:nvPr/>
        </p:nvSpPr>
        <p:spPr>
          <a:xfrm>
            <a:off x="521208" y="658368"/>
            <a:ext cx="11155680" cy="585216"/>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pitchFamily="34" charset="0"/>
                <a:ea typeface="Aptos" pitchFamily="34" charset="-122"/>
                <a:cs typeface="Aptos" pitchFamily="34" charset="-120"/>
              </a:rPr>
              <a:t>Conclusion: from anomaly alerts to maintenance decisions</a:t>
            </a:r>
            <a:endParaRPr lang="en-US" sz="2700" dirty="0"/>
          </a:p>
        </p:txBody>
      </p:sp>
      <p:sp>
        <p:nvSpPr>
          <p:cNvPr id="5" name="Shape 3"/>
          <p:cNvSpPr/>
          <p:nvPr/>
        </p:nvSpPr>
        <p:spPr>
          <a:xfrm>
            <a:off x="521208" y="6510528"/>
            <a:ext cx="11119104" cy="0"/>
          </a:xfrm>
          <a:prstGeom prst="line">
            <a:avLst/>
          </a:prstGeom>
          <a:noFill/>
          <a:ln w="12700">
            <a:solidFill>
              <a:srgbClr val="DCE5EC"/>
            </a:solidFill>
            <a:prstDash val="solid"/>
          </a:ln>
        </p:spPr>
        <p:txBody>
          <a:bodyPr/>
          <a:lstStyle/>
          <a:p>
            <a:endParaRPr lang="en-IN"/>
          </a:p>
        </p:txBody>
      </p:sp>
      <p:sp>
        <p:nvSpPr>
          <p:cNvPr id="6" name="Text 4"/>
          <p:cNvSpPr/>
          <p:nvPr/>
        </p:nvSpPr>
        <p:spPr>
          <a:xfrm>
            <a:off x="530352" y="6565392"/>
            <a:ext cx="7315200" cy="146304"/>
          </a:xfrm>
          <a:prstGeom prst="rect">
            <a:avLst/>
          </a:prstGeom>
          <a:noFill/>
          <a:ln/>
        </p:spPr>
        <p:txBody>
          <a:bodyPr wrap="square" lIns="0" tIns="0" rIns="0" bIns="0" rtlCol="0" anchor="ctr">
            <a:normAutofit/>
          </a:bodyPr>
          <a:lstStyle/>
          <a:p>
            <a:pPr marL="0" indent="0" algn="l">
              <a:buNone/>
            </a:pPr>
            <a:r>
              <a:rPr lang="en-US" sz="900" dirty="0">
                <a:solidFill>
                  <a:srgbClr val="637489"/>
                </a:solidFill>
                <a:latin typeface="Aptos" pitchFamily="34" charset="0"/>
                <a:ea typeface="Aptos" pitchFamily="34" charset="-122"/>
                <a:cs typeface="Aptos" pitchFamily="34" charset="-120"/>
              </a:rPr>
              <a:t>MAINTAINIQ  •  CSE3086 NoSQL Databases</a:t>
            </a:r>
            <a:endParaRPr lang="en-US" sz="900" dirty="0"/>
          </a:p>
        </p:txBody>
      </p:sp>
      <p:sp>
        <p:nvSpPr>
          <p:cNvPr id="7" name="Text 5"/>
          <p:cNvSpPr/>
          <p:nvPr/>
        </p:nvSpPr>
        <p:spPr>
          <a:xfrm>
            <a:off x="11064240" y="6565392"/>
            <a:ext cx="548640" cy="146304"/>
          </a:xfrm>
          <a:prstGeom prst="rect">
            <a:avLst/>
          </a:prstGeom>
          <a:noFill/>
          <a:ln/>
        </p:spPr>
        <p:txBody>
          <a:bodyPr wrap="square" lIns="0" tIns="0" rIns="0" bIns="0" rtlCol="0" anchor="ctr">
            <a:normAutofit/>
          </a:bodyPr>
          <a:lstStyle/>
          <a:p>
            <a:pPr marL="0" indent="0" algn="r">
              <a:buNone/>
            </a:pPr>
            <a:r>
              <a:rPr lang="en-US" sz="900" dirty="0">
                <a:solidFill>
                  <a:srgbClr val="637489"/>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67512" y="1545336"/>
            <a:ext cx="10844784" cy="1325880"/>
          </a:xfrm>
          <a:prstGeom prst="roundRect">
            <a:avLst>
              <a:gd name="adj" fmla="val 8276"/>
            </a:avLst>
          </a:prstGeom>
          <a:solidFill>
            <a:srgbClr val="102A43"/>
          </a:solidFill>
          <a:ln w="12700">
            <a:solidFill>
              <a:srgbClr val="102A43"/>
            </a:solidFill>
            <a:prstDash val="solid"/>
          </a:ln>
        </p:spPr>
        <p:txBody>
          <a:bodyPr/>
          <a:lstStyle/>
          <a:p>
            <a:endParaRPr lang="en-IN"/>
          </a:p>
        </p:txBody>
      </p:sp>
      <p:sp>
        <p:nvSpPr>
          <p:cNvPr id="9" name="Text 7"/>
          <p:cNvSpPr/>
          <p:nvPr/>
        </p:nvSpPr>
        <p:spPr>
          <a:xfrm>
            <a:off x="1051560" y="1828800"/>
            <a:ext cx="10058400" cy="676656"/>
          </a:xfrm>
          <a:prstGeom prst="rect">
            <a:avLst/>
          </a:prstGeom>
          <a:noFill/>
          <a:ln/>
        </p:spPr>
        <p:txBody>
          <a:bodyPr wrap="square" lIns="0" tIns="0" rIns="0" bIns="0" rtlCol="0" anchor="ctr">
            <a:normAutofit/>
          </a:bodyPr>
          <a:lstStyle/>
          <a:p>
            <a:pPr marL="0" indent="0" algn="ctr">
              <a:buNone/>
            </a:pPr>
            <a:r>
              <a:rPr lang="en-US" sz="2500" b="1" dirty="0">
                <a:solidFill>
                  <a:srgbClr val="FFFFFF"/>
                </a:solidFill>
                <a:latin typeface="Aptos" pitchFamily="34" charset="0"/>
                <a:ea typeface="Aptos" pitchFamily="34" charset="-122"/>
                <a:cs typeface="Aptos" pitchFamily="34" charset="-120"/>
              </a:rPr>
              <a:t>MaintainIQ makes industrial sensor data more understandable, actionable and accessible.</a:t>
            </a:r>
            <a:endParaRPr lang="en-US" sz="2500" dirty="0"/>
          </a:p>
        </p:txBody>
      </p:sp>
      <p:sp>
        <p:nvSpPr>
          <p:cNvPr id="10" name="Shape 8"/>
          <p:cNvSpPr/>
          <p:nvPr/>
        </p:nvSpPr>
        <p:spPr>
          <a:xfrm>
            <a:off x="713232" y="3264408"/>
            <a:ext cx="10698480" cy="1508760"/>
          </a:xfrm>
          <a:prstGeom prst="roundRect">
            <a:avLst>
              <a:gd name="adj" fmla="val 7273"/>
            </a:avLst>
          </a:prstGeom>
          <a:solidFill>
            <a:srgbClr val="FFFFFF"/>
          </a:solidFill>
          <a:ln w="12700">
            <a:solidFill>
              <a:srgbClr val="DCE5EC"/>
            </a:solidFill>
            <a:prstDash val="solid"/>
          </a:ln>
        </p:spPr>
        <p:txBody>
          <a:bodyPr/>
          <a:lstStyle/>
          <a:p>
            <a:endParaRPr lang="en-IN"/>
          </a:p>
        </p:txBody>
      </p:sp>
      <p:sp>
        <p:nvSpPr>
          <p:cNvPr id="11" name="Shape 9"/>
          <p:cNvSpPr/>
          <p:nvPr/>
        </p:nvSpPr>
        <p:spPr>
          <a:xfrm>
            <a:off x="713232" y="3264408"/>
            <a:ext cx="64008" cy="1508760"/>
          </a:xfrm>
          <a:prstGeom prst="rect">
            <a:avLst/>
          </a:prstGeom>
          <a:solidFill>
            <a:srgbClr val="12A39B"/>
          </a:solidFill>
          <a:ln w="12700">
            <a:solidFill>
              <a:srgbClr val="12A39B"/>
            </a:solidFill>
            <a:prstDash val="solid"/>
          </a:ln>
        </p:spPr>
        <p:txBody>
          <a:bodyPr/>
          <a:lstStyle/>
          <a:p>
            <a:endParaRPr lang="en-IN"/>
          </a:p>
        </p:txBody>
      </p:sp>
      <p:sp>
        <p:nvSpPr>
          <p:cNvPr id="12" name="Text 10"/>
          <p:cNvSpPr/>
          <p:nvPr/>
        </p:nvSpPr>
        <p:spPr>
          <a:xfrm>
            <a:off x="923544" y="3419856"/>
            <a:ext cx="10287000" cy="310896"/>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Key contribution</a:t>
            </a:r>
            <a:endParaRPr lang="en-US" sz="1600" dirty="0"/>
          </a:p>
        </p:txBody>
      </p:sp>
      <p:sp>
        <p:nvSpPr>
          <p:cNvPr id="13" name="Text 11"/>
          <p:cNvSpPr/>
          <p:nvPr/>
        </p:nvSpPr>
        <p:spPr>
          <a:xfrm>
            <a:off x="923544" y="3831336"/>
            <a:ext cx="10277856" cy="841248"/>
          </a:xfrm>
          <a:prstGeom prst="rect">
            <a:avLst/>
          </a:prstGeom>
          <a:noFill/>
          <a:ln/>
        </p:spPr>
        <p:txBody>
          <a:bodyPr wrap="square" lIns="0" tIns="0" rIns="0" bIns="0" rtlCol="0" anchor="t">
            <a:normAutofit/>
          </a:bodyPr>
          <a:lstStyle/>
          <a:p>
            <a:pPr marL="0" indent="0" algn="l">
              <a:buNone/>
            </a:pPr>
            <a:r>
              <a:rPr lang="en-US" sz="1340" dirty="0">
                <a:solidFill>
                  <a:srgbClr val="203248"/>
                </a:solidFill>
                <a:latin typeface="Aptos" pitchFamily="34" charset="0"/>
                <a:ea typeface="Aptos" pitchFamily="34" charset="-122"/>
                <a:cs typeface="Aptos" pitchFamily="34" charset="-120"/>
              </a:rPr>
              <a:t>MongoDB-native health scoring combined with LSTM anomaly detection, prioritization, rule-based explanation and natural-language retrieval.</a:t>
            </a:r>
            <a:endParaRPr lang="en-US" sz="1340" dirty="0"/>
          </a:p>
        </p:txBody>
      </p:sp>
      <p:sp>
        <p:nvSpPr>
          <p:cNvPr id="14" name="Text 12"/>
          <p:cNvSpPr/>
          <p:nvPr/>
        </p:nvSpPr>
        <p:spPr>
          <a:xfrm>
            <a:off x="1024128" y="5321808"/>
            <a:ext cx="10058400" cy="484632"/>
          </a:xfrm>
          <a:prstGeom prst="rect">
            <a:avLst/>
          </a:prstGeom>
          <a:noFill/>
          <a:ln/>
        </p:spPr>
        <p:txBody>
          <a:bodyPr wrap="square" lIns="0" tIns="0" rIns="0" bIns="0" rtlCol="0" anchor="ctr">
            <a:normAutofit/>
          </a:bodyPr>
          <a:lstStyle/>
          <a:p>
            <a:pPr marL="0" indent="0" algn="ctr">
              <a:buNone/>
            </a:pPr>
            <a:r>
              <a:rPr lang="en-US" sz="2200" b="1" dirty="0">
                <a:solidFill>
                  <a:srgbClr val="147D92"/>
                </a:solidFill>
                <a:latin typeface="Aptos" pitchFamily="34" charset="0"/>
                <a:ea typeface="Aptos" pitchFamily="34" charset="-122"/>
                <a:cs typeface="Aptos"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2511</Words>
  <Application>Microsoft Office PowerPoint</Application>
  <PresentationFormat>Widescreen</PresentationFormat>
  <Paragraphs>298</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MaintainIQ — Implementation and Results</dc:title>
  <dc:subject>Class presentation</dc:subject>
  <dc:creator>MaintainIQ</dc:creator>
  <cp:lastModifiedBy>Divya P</cp:lastModifiedBy>
  <cp:revision>2</cp:revision>
  <dcterms:created xsi:type="dcterms:W3CDTF">2026-10-17T05:33:04Z</dcterms:created>
  <dcterms:modified xsi:type="dcterms:W3CDTF">2026-10-29T08:19:57Z</dcterms:modified>
</cp:coreProperties>
</file>